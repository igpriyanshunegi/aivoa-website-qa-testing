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Default Extension="svg" ContentType="image/svg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>
  <p:sldMasterIdLst>
    <p:sldMasterId id="2147483648" r:id="rId1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294159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276515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88982447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7135466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7616695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2932311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9857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47781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40392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6034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25391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93767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93472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42589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40860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094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86258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58097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961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83266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1866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1032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92973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74698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79494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38708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00253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63042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81631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33281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1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5796804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540314361" name="Shape 1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47001869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2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26820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1815032347" name="Shape 1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07345165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3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968684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436274096" name="Shape 1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14689932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4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738210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1968210216" name="Shape 1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44566809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5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251466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858834964" name="Shape 1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89984655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6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4887466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1672997701" name="Shape 1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875117455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7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15007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1393040317" name="Shape 1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869001690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8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872076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82690803" name="Shape 1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68155291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media1.svg"/><Relationship Id="rId6" Type="http://schemas.openxmlformats.org/officeDocument/2006/relationships/image" Target="../media/image12.png"/><Relationship Id="rId7" Type="http://schemas.openxmlformats.org/officeDocument/2006/relationships/image" Target="../media/media2.svg"/><Relationship Id="rId8" Type="http://schemas.openxmlformats.org/officeDocument/2006/relationships/image" Target="../media/image1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media3.svg"/><Relationship Id="rId5" Type="http://schemas.openxmlformats.org/officeDocument/2006/relationships/image" Target="../media/image15.png"/><Relationship Id="rId6" Type="http://schemas.openxmlformats.org/officeDocument/2006/relationships/image" Target="../media/media4.svg"/><Relationship Id="rId7" Type="http://schemas.openxmlformats.org/officeDocument/2006/relationships/image" Target="../media/image1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media5.svg"/><Relationship Id="rId5" Type="http://schemas.openxmlformats.org/officeDocument/2006/relationships/image" Target="../media/image23.png"/><Relationship Id="rId6" Type="http://schemas.openxmlformats.org/officeDocument/2006/relationships/image" Target="../media/media6.svg"/><Relationship Id="rId7" Type="http://schemas.openxmlformats.org/officeDocument/2006/relationships/image" Target="../media/image24.png"/><Relationship Id="rId8" Type="http://schemas.openxmlformats.org/officeDocument/2006/relationships/image" Target="../media/media7.svg"/><Relationship Id="rId9" Type="http://schemas.openxmlformats.org/officeDocument/2006/relationships/image" Target="../media/image25.png"/><Relationship Id="rId10" Type="http://schemas.openxmlformats.org/officeDocument/2006/relationships/image" Target="../media/media8.svg"/><Relationship Id="rId11" Type="http://schemas.openxmlformats.org/officeDocument/2006/relationships/image" Target="../media/image26.png"/><Relationship Id="rId12" Type="http://schemas.openxmlformats.org/officeDocument/2006/relationships/image" Target="../media/media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6946140" name="Text 0"/>
          <p:cNvSpPr/>
          <p:nvPr/>
        </p:nvSpPr>
        <p:spPr bwMode="auto">
          <a:xfrm>
            <a:off x="496119" y="1217340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75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</a:rPr>
              <a:t>Quality Management System (QMS) Workflow</a:t>
            </a:r>
            <a:endParaRPr lang="en-US" sz="2750"/>
          </a:p>
        </p:txBody>
      </p:sp>
      <p:sp>
        <p:nvSpPr>
          <p:cNvPr id="1691192774" name="Text 1"/>
          <p:cNvSpPr/>
          <p:nvPr/>
        </p:nvSpPr>
        <p:spPr bwMode="auto">
          <a:xfrm>
            <a:off x="496119" y="2603004"/>
            <a:ext cx="39924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 b="1">
                <a:solidFill>
                  <a:srgbClr val="26A688"/>
                </a:solidFill>
                <a:latin typeface="Unbounded Bold"/>
                <a:ea typeface="Unbounded Bold"/>
                <a:cs typeface="Unbounded Bold"/>
              </a:rPr>
              <a:t>Pharmaceutical Manufacturing</a:t>
            </a:r>
            <a:endParaRPr lang="en-US" sz="1350"/>
          </a:p>
        </p:txBody>
      </p:sp>
      <p:sp>
        <p:nvSpPr>
          <p:cNvPr id="325048849" name="Text 2"/>
          <p:cNvSpPr/>
          <p:nvPr/>
        </p:nvSpPr>
        <p:spPr bwMode="auto">
          <a:xfrm>
            <a:off x="496119" y="303706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API Example: </a:t>
            </a:r>
            <a:r>
              <a:rPr lang="en-US" sz="1100" b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Paracetamol API</a:t>
            </a:r>
            <a:r>
              <a:rPr lang="en-US" sz="11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 · FDF Example: </a:t>
            </a:r>
            <a:r>
              <a:rPr lang="en-US" sz="1100" b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Paracetamol 500 mg Tablet</a:t>
            </a:r>
            <a:endParaRPr lang="en-US" sz="1100"/>
          </a:p>
        </p:txBody>
      </p:sp>
      <p:sp>
        <p:nvSpPr>
          <p:cNvPr id="169656978" name="Shape 3"/>
          <p:cNvSpPr/>
          <p:nvPr/>
        </p:nvSpPr>
        <p:spPr bwMode="auto">
          <a:xfrm>
            <a:off x="496119" y="3654921"/>
            <a:ext cx="1831925" cy="266402"/>
          </a:xfrm>
          <a:prstGeom prst="roundRect">
            <a:avLst>
              <a:gd name="adj" fmla="val 17880"/>
            </a:avLst>
          </a:prstGeom>
          <a:solidFill>
            <a:srgbClr val="D6F5EE"/>
          </a:solidFill>
          <a:ln/>
        </p:spPr>
      </p:sp>
      <p:sp>
        <p:nvSpPr>
          <p:cNvPr id="436038165" name="Text 4"/>
          <p:cNvSpPr/>
          <p:nvPr/>
        </p:nvSpPr>
        <p:spPr bwMode="auto">
          <a:xfrm>
            <a:off x="581174" y="3697412"/>
            <a:ext cx="211901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85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PREPARED BY PRIYANSHU NEGI</a:t>
            </a:r>
            <a:endParaRPr lang="en-US" sz="850"/>
          </a:p>
        </p:txBody>
      </p:sp>
      <p:sp>
        <p:nvSpPr>
          <p:cNvPr id="1748011707" name="Shape 5"/>
          <p:cNvSpPr/>
          <p:nvPr/>
        </p:nvSpPr>
        <p:spPr bwMode="auto">
          <a:xfrm>
            <a:off x="2398886" y="3650159"/>
            <a:ext cx="1900089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26A688"/>
            </a:solidFill>
            <a:prstDash val="solid"/>
          </a:ln>
        </p:spPr>
      </p:sp>
      <p:sp>
        <p:nvSpPr>
          <p:cNvPr id="97048652" name="Text 6"/>
          <p:cNvSpPr/>
          <p:nvPr/>
        </p:nvSpPr>
        <p:spPr bwMode="auto">
          <a:xfrm>
            <a:off x="2488704" y="3697412"/>
            <a:ext cx="217765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850">
                <a:solidFill>
                  <a:srgbClr val="26A688"/>
                </a:solidFill>
                <a:latin typeface="Open Sans"/>
                <a:ea typeface="Open Sans"/>
                <a:cs typeface="Open Sans"/>
              </a:rPr>
              <a:t>AIVOA.AI HIRING PRESENTATION</a:t>
            </a:r>
            <a:endParaRPr lang="en-US" sz="850"/>
          </a:p>
        </p:txBody>
      </p:sp>
      <p:sp>
        <p:nvSpPr>
          <p:cNvPr id="1953253459" name=""/>
          <p:cNvSpPr/>
          <p:nvPr/>
        </p:nvSpPr>
        <p:spPr bwMode="auto">
          <a:xfrm>
            <a:off x="8087525" y="4820816"/>
            <a:ext cx="942780" cy="233265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45" y="0"/>
                </a:moveTo>
                <a:cubicBezTo>
                  <a:pt x="1781" y="16200"/>
                  <a:pt x="3117" y="23400"/>
                  <a:pt x="5789" y="25200"/>
                </a:cubicBezTo>
                <a:cubicBezTo>
                  <a:pt x="8016" y="28800"/>
                  <a:pt x="9797" y="28800"/>
                  <a:pt x="12470" y="28800"/>
                </a:cubicBezTo>
                <a:cubicBezTo>
                  <a:pt x="14696" y="30600"/>
                  <a:pt x="16923" y="30600"/>
                  <a:pt x="19150" y="30600"/>
                </a:cubicBezTo>
                <a:cubicBezTo>
                  <a:pt x="21822" y="28800"/>
                  <a:pt x="24494" y="27000"/>
                  <a:pt x="27167" y="21600"/>
                </a:cubicBezTo>
                <a:cubicBezTo>
                  <a:pt x="29393" y="18000"/>
                  <a:pt x="32511" y="14400"/>
                  <a:pt x="34292" y="12600"/>
                </a:cubicBezTo>
                <a:cubicBezTo>
                  <a:pt x="36074" y="9000"/>
                  <a:pt x="37855" y="9000"/>
                  <a:pt x="39637" y="9000"/>
                </a:cubicBezTo>
                <a:cubicBezTo>
                  <a:pt x="41418" y="14400"/>
                  <a:pt x="42309" y="21600"/>
                  <a:pt x="43200" y="28800"/>
                </a:cubicBezTo>
                <a:cubicBezTo>
                  <a:pt x="41863" y="34200"/>
                  <a:pt x="40082" y="34200"/>
                  <a:pt x="38301" y="34200"/>
                </a:cubicBezTo>
                <a:cubicBezTo>
                  <a:pt x="36074" y="34200"/>
                  <a:pt x="34292" y="34200"/>
                  <a:pt x="32511" y="32400"/>
                </a:cubicBezTo>
                <a:cubicBezTo>
                  <a:pt x="30729" y="30600"/>
                  <a:pt x="28948" y="30600"/>
                  <a:pt x="27167" y="30600"/>
                </a:cubicBezTo>
                <a:cubicBezTo>
                  <a:pt x="25385" y="30600"/>
                  <a:pt x="23158" y="30600"/>
                  <a:pt x="20931" y="30600"/>
                </a:cubicBezTo>
                <a:cubicBezTo>
                  <a:pt x="19150" y="30600"/>
                  <a:pt x="16478" y="30600"/>
                  <a:pt x="13806" y="30600"/>
                </a:cubicBezTo>
                <a:cubicBezTo>
                  <a:pt x="11134" y="30600"/>
                  <a:pt x="9352" y="30600"/>
                  <a:pt x="7125" y="30600"/>
                </a:cubicBezTo>
                <a:cubicBezTo>
                  <a:pt x="5344" y="30600"/>
                  <a:pt x="3117" y="30600"/>
                  <a:pt x="1336" y="27000"/>
                </a:cubicBezTo>
                <a:cubicBezTo>
                  <a:pt x="0" y="21600"/>
                  <a:pt x="0" y="28800"/>
                  <a:pt x="1336" y="36000"/>
                </a:cubicBezTo>
                <a:cubicBezTo>
                  <a:pt x="3117" y="37800"/>
                  <a:pt x="4898" y="39600"/>
                  <a:pt x="6680" y="43200"/>
                </a:cubicBezTo>
                <a:cubicBezTo>
                  <a:pt x="8907" y="43200"/>
                  <a:pt x="10688" y="43200"/>
                  <a:pt x="12915" y="43200"/>
                </a:cubicBezTo>
                <a:cubicBezTo>
                  <a:pt x="14696" y="43200"/>
                  <a:pt x="16478" y="43200"/>
                  <a:pt x="18259" y="43200"/>
                </a:cubicBezTo>
                <a:cubicBezTo>
                  <a:pt x="20041" y="43200"/>
                  <a:pt x="21822" y="43200"/>
                  <a:pt x="23604" y="41400"/>
                </a:cubicBezTo>
                <a:cubicBezTo>
                  <a:pt x="25385" y="41400"/>
                  <a:pt x="27167" y="41400"/>
                  <a:pt x="28948" y="41400"/>
                </a:cubicBezTo>
                <a:cubicBezTo>
                  <a:pt x="30729" y="41400"/>
                  <a:pt x="32511" y="43200"/>
                  <a:pt x="34292" y="41400"/>
                </a:cubicBezTo>
                <a:cubicBezTo>
                  <a:pt x="36074" y="36000"/>
                  <a:pt x="36519" y="28800"/>
                  <a:pt x="37410" y="21600"/>
                </a:cubicBezTo>
                <a:cubicBezTo>
                  <a:pt x="38746" y="16200"/>
                  <a:pt x="36964" y="12600"/>
                  <a:pt x="33847" y="7200"/>
                </a:cubicBezTo>
                <a:cubicBezTo>
                  <a:pt x="31620" y="7200"/>
                  <a:pt x="29839" y="7200"/>
                  <a:pt x="27167" y="7200"/>
                </a:cubicBezTo>
                <a:cubicBezTo>
                  <a:pt x="23604" y="10800"/>
                  <a:pt x="21377" y="10800"/>
                  <a:pt x="19595" y="10800"/>
                </a:cubicBezTo>
                <a:cubicBezTo>
                  <a:pt x="17814" y="10800"/>
                  <a:pt x="15587" y="10800"/>
                  <a:pt x="13806" y="10800"/>
                </a:cubicBezTo>
                <a:cubicBezTo>
                  <a:pt x="11579" y="10800"/>
                  <a:pt x="9797" y="10800"/>
                  <a:pt x="8016" y="12600"/>
                </a:cubicBezTo>
                <a:cubicBezTo>
                  <a:pt x="7571" y="19800"/>
                  <a:pt x="5789" y="21600"/>
                  <a:pt x="4453" y="14400"/>
                </a:cubicBezTo>
                <a:cubicBezTo>
                  <a:pt x="3562" y="7200"/>
                  <a:pt x="5789" y="5400"/>
                  <a:pt x="7571" y="7200"/>
                </a:cubicBezTo>
                <a:cubicBezTo>
                  <a:pt x="9352" y="10800"/>
                  <a:pt x="11134" y="12600"/>
                  <a:pt x="12915" y="14400"/>
                </a:cubicBezTo>
                <a:cubicBezTo>
                  <a:pt x="14696" y="14400"/>
                  <a:pt x="17814" y="21600"/>
                  <a:pt x="20041" y="25200"/>
                </a:cubicBezTo>
                <a:cubicBezTo>
                  <a:pt x="21822" y="27000"/>
                  <a:pt x="20041" y="28800"/>
                  <a:pt x="17814" y="25200"/>
                </a:cubicBezTo>
                <a:cubicBezTo>
                  <a:pt x="16032" y="23400"/>
                  <a:pt x="12915" y="23400"/>
                  <a:pt x="10243" y="25200"/>
                </a:cubicBezTo>
                <a:cubicBezTo>
                  <a:pt x="6680" y="27000"/>
                  <a:pt x="4008" y="28800"/>
                  <a:pt x="2226" y="28800"/>
                </a:cubicBezTo>
                <a:cubicBezTo>
                  <a:pt x="6680" y="28800"/>
                  <a:pt x="8461" y="28800"/>
                  <a:pt x="11134" y="28800"/>
                </a:cubicBezTo>
                <a:cubicBezTo>
                  <a:pt x="14251" y="28800"/>
                  <a:pt x="16032" y="28800"/>
                  <a:pt x="18259" y="28800"/>
                </a:cubicBezTo>
                <a:cubicBezTo>
                  <a:pt x="20486" y="28800"/>
                  <a:pt x="23158" y="28800"/>
                  <a:pt x="25830" y="28800"/>
                </a:cubicBezTo>
                <a:cubicBezTo>
                  <a:pt x="28948" y="28800"/>
                  <a:pt x="31175" y="28800"/>
                  <a:pt x="34292" y="28800"/>
                </a:cubicBezTo>
                <a:lnTo>
                  <a:pt x="34738" y="21600"/>
                </a:ln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67477613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734438" y="0"/>
            <a:ext cx="3429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8350877" name="Text 0"/>
          <p:cNvSpPr/>
          <p:nvPr/>
        </p:nvSpPr>
        <p:spPr bwMode="auto">
          <a:xfrm>
            <a:off x="2126531" y="199579"/>
            <a:ext cx="29999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</a:rPr>
              <a:t>What are API and FDF?</a:t>
            </a:r>
            <a:endParaRPr lang="en-US" sz="1350"/>
          </a:p>
        </p:txBody>
      </p:sp>
      <p:pic>
        <p:nvPicPr>
          <p:cNvPr id="156169051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126531" y="513978"/>
            <a:ext cx="3118545" cy="2078459"/>
          </a:xfrm>
          <a:prstGeom prst="rect">
            <a:avLst/>
          </a:prstGeom>
        </p:spPr>
      </p:pic>
      <p:pic>
        <p:nvPicPr>
          <p:cNvPr id="1426967011" name="Image 1" descr="preencoded.png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5413251" y="818034"/>
            <a:ext cx="1608906" cy="815355"/>
          </a:xfrm>
          <a:prstGeom prst="rect">
            <a:avLst/>
          </a:prstGeom>
        </p:spPr>
      </p:pic>
      <p:sp>
        <p:nvSpPr>
          <p:cNvPr id="1270695710" name="Text 1"/>
          <p:cNvSpPr/>
          <p:nvPr/>
        </p:nvSpPr>
        <p:spPr bwMode="auto">
          <a:xfrm>
            <a:off x="5531717" y="898401"/>
            <a:ext cx="1410072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65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</a:rPr>
              <a:t>API — Active Pharmaceutical Ingredient</a:t>
            </a:r>
            <a:endParaRPr lang="en-US" sz="650"/>
          </a:p>
        </p:txBody>
      </p:sp>
      <p:sp>
        <p:nvSpPr>
          <p:cNvPr id="1739084237" name="Text 2"/>
          <p:cNvSpPr/>
          <p:nvPr/>
        </p:nvSpPr>
        <p:spPr bwMode="auto">
          <a:xfrm>
            <a:off x="5531717" y="1266006"/>
            <a:ext cx="1410072" cy="287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  <a:defRPr/>
            </a:pPr>
            <a:r>
              <a:rPr lang="en-US" sz="55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The active substance responsible for the therapeutic effect of a medicine.</a:t>
            </a:r>
            <a:endParaRPr lang="en-US" sz="550"/>
          </a:p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550" b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Example:</a:t>
            </a:r>
            <a:r>
              <a:rPr lang="en-US" sz="55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 Paracetamol API Powder</a:t>
            </a:r>
            <a:endParaRPr lang="en-US" sz="550"/>
          </a:p>
        </p:txBody>
      </p:sp>
      <p:pic>
        <p:nvPicPr>
          <p:cNvPr id="103905860" name="Image 2" descr="preencoded.png"/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 bwMode="auto">
          <a:xfrm>
            <a:off x="5413251" y="1668810"/>
            <a:ext cx="1608906" cy="619571"/>
          </a:xfrm>
          <a:prstGeom prst="rect">
            <a:avLst/>
          </a:prstGeom>
        </p:spPr>
      </p:pic>
      <p:sp>
        <p:nvSpPr>
          <p:cNvPr id="680336139" name="Text 3"/>
          <p:cNvSpPr/>
          <p:nvPr/>
        </p:nvSpPr>
        <p:spPr bwMode="auto">
          <a:xfrm>
            <a:off x="5531717" y="1749177"/>
            <a:ext cx="1410072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65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</a:rPr>
              <a:t>FDF — Finished Dosage Form</a:t>
            </a:r>
            <a:endParaRPr lang="en-US" sz="650"/>
          </a:p>
        </p:txBody>
      </p:sp>
      <p:sp>
        <p:nvSpPr>
          <p:cNvPr id="1298076793" name="Text 4"/>
          <p:cNvSpPr/>
          <p:nvPr/>
        </p:nvSpPr>
        <p:spPr bwMode="auto">
          <a:xfrm>
            <a:off x="5531717" y="2006054"/>
            <a:ext cx="1410072" cy="20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  <a:defRPr/>
            </a:pPr>
            <a:r>
              <a:rPr lang="en-US" sz="55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The final medicine consumed by patients.</a:t>
            </a:r>
            <a:endParaRPr lang="en-US" sz="550"/>
          </a:p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550" b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Example:</a:t>
            </a:r>
            <a:r>
              <a:rPr lang="en-US" sz="55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 Paracetamol 500 mg Tablet</a:t>
            </a:r>
            <a:endParaRPr lang="en-US" sz="550"/>
          </a:p>
        </p:txBody>
      </p:sp>
      <p:pic>
        <p:nvPicPr>
          <p:cNvPr id="910642956" name="Image 3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2126531" y="2672060"/>
            <a:ext cx="4890939" cy="2146995"/>
          </a:xfrm>
          <a:prstGeom prst="rect">
            <a:avLst/>
          </a:prstGeom>
        </p:spPr>
      </p:pic>
      <p:sp>
        <p:nvSpPr>
          <p:cNvPr id="675863562" name="Text 5"/>
          <p:cNvSpPr/>
          <p:nvPr/>
        </p:nvSpPr>
        <p:spPr bwMode="auto">
          <a:xfrm>
            <a:off x="2956216" y="4121973"/>
            <a:ext cx="857337" cy="264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8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</a:rPr>
              <a:t>Paracetamol API</a:t>
            </a:r>
            <a:endParaRPr lang="en-US" sz="800"/>
          </a:p>
        </p:txBody>
      </p:sp>
      <p:sp>
        <p:nvSpPr>
          <p:cNvPr id="172299694" name="Text 6"/>
          <p:cNvSpPr/>
          <p:nvPr/>
        </p:nvSpPr>
        <p:spPr bwMode="auto">
          <a:xfrm>
            <a:off x="2956216" y="4424632"/>
            <a:ext cx="857337" cy="158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  <a:defRPr/>
            </a:pPr>
            <a:r>
              <a:rPr lang="en-US" sz="65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Powdered active ingredient</a:t>
            </a:r>
            <a:endParaRPr lang="en-US" sz="650"/>
          </a:p>
        </p:txBody>
      </p:sp>
      <p:sp>
        <p:nvSpPr>
          <p:cNvPr id="1099342759" name="Text 7"/>
          <p:cNvSpPr/>
          <p:nvPr/>
        </p:nvSpPr>
        <p:spPr bwMode="auto">
          <a:xfrm>
            <a:off x="5363356" y="4088998"/>
            <a:ext cx="857337" cy="264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8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</a:rPr>
              <a:t>Paracetamol Tablet</a:t>
            </a:r>
            <a:endParaRPr lang="en-US" sz="800"/>
          </a:p>
        </p:txBody>
      </p:sp>
      <p:sp>
        <p:nvSpPr>
          <p:cNvPr id="375615678" name="Text 8"/>
          <p:cNvSpPr/>
          <p:nvPr/>
        </p:nvSpPr>
        <p:spPr bwMode="auto">
          <a:xfrm>
            <a:off x="5363356" y="4391658"/>
            <a:ext cx="857337" cy="158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  <a:defRPr/>
            </a:pPr>
            <a:r>
              <a:rPr lang="en-US" sz="65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500 mg finished dosage form</a:t>
            </a:r>
            <a:endParaRPr lang="en-US" sz="650"/>
          </a:p>
        </p:txBody>
      </p:sp>
      <p:sp>
        <p:nvSpPr>
          <p:cNvPr id="1478856355" name="Text 9"/>
          <p:cNvSpPr/>
          <p:nvPr/>
        </p:nvSpPr>
        <p:spPr bwMode="auto">
          <a:xfrm>
            <a:off x="4166852" y="2897205"/>
            <a:ext cx="857337" cy="264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8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</a:rPr>
              <a:t>Manufacturing</a:t>
            </a:r>
            <a:endParaRPr lang="en-US" sz="800"/>
          </a:p>
        </p:txBody>
      </p:sp>
      <p:sp>
        <p:nvSpPr>
          <p:cNvPr id="1238321491" name="Text 10"/>
          <p:cNvSpPr/>
          <p:nvPr/>
        </p:nvSpPr>
        <p:spPr bwMode="auto">
          <a:xfrm>
            <a:off x="4166852" y="3199864"/>
            <a:ext cx="857337" cy="158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  <a:defRPr/>
            </a:pPr>
            <a:r>
              <a:rPr lang="en-US" sz="65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Formulation and tablet production</a:t>
            </a:r>
            <a:endParaRPr lang="en-US" sz="650"/>
          </a:p>
        </p:txBody>
      </p:sp>
      <p:sp>
        <p:nvSpPr>
          <p:cNvPr id="1809125206" name="Text 11"/>
          <p:cNvSpPr/>
          <p:nvPr/>
        </p:nvSpPr>
        <p:spPr bwMode="auto">
          <a:xfrm>
            <a:off x="2126531" y="4858866"/>
            <a:ext cx="534813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55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The API undergoes controlled manufacturing to become the final finished dosage form consumed by patients.</a:t>
            </a:r>
            <a:endParaRPr lang="en-US" sz="550"/>
          </a:p>
        </p:txBody>
      </p:sp>
      <p:sp>
        <p:nvSpPr>
          <p:cNvPr id="1679532307" name=""/>
          <p:cNvSpPr/>
          <p:nvPr/>
        </p:nvSpPr>
        <p:spPr bwMode="auto">
          <a:xfrm>
            <a:off x="8077806" y="4888851"/>
            <a:ext cx="952499" cy="184668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11368"/>
                </a:moveTo>
                <a:cubicBezTo>
                  <a:pt x="440" y="2273"/>
                  <a:pt x="2204" y="2273"/>
                  <a:pt x="3967" y="2273"/>
                </a:cubicBezTo>
                <a:cubicBezTo>
                  <a:pt x="6171" y="4547"/>
                  <a:pt x="8816" y="4547"/>
                  <a:pt x="11020" y="4547"/>
                </a:cubicBezTo>
                <a:cubicBezTo>
                  <a:pt x="12783" y="4547"/>
                  <a:pt x="14546" y="2273"/>
                  <a:pt x="16751" y="2273"/>
                </a:cubicBezTo>
                <a:cubicBezTo>
                  <a:pt x="18514" y="2273"/>
                  <a:pt x="20277" y="2273"/>
                  <a:pt x="22040" y="2273"/>
                </a:cubicBezTo>
                <a:cubicBezTo>
                  <a:pt x="23804" y="2273"/>
                  <a:pt x="25567" y="2273"/>
                  <a:pt x="27330" y="2273"/>
                </a:cubicBezTo>
                <a:cubicBezTo>
                  <a:pt x="29093" y="2273"/>
                  <a:pt x="30857" y="0"/>
                  <a:pt x="33061" y="0"/>
                </a:cubicBezTo>
                <a:cubicBezTo>
                  <a:pt x="34824" y="0"/>
                  <a:pt x="36587" y="0"/>
                  <a:pt x="38351" y="0"/>
                </a:cubicBezTo>
                <a:cubicBezTo>
                  <a:pt x="40114" y="2273"/>
                  <a:pt x="41877" y="4547"/>
                  <a:pt x="42759" y="13642"/>
                </a:cubicBezTo>
                <a:cubicBezTo>
                  <a:pt x="43200" y="22736"/>
                  <a:pt x="41436" y="25010"/>
                  <a:pt x="39673" y="22736"/>
                </a:cubicBezTo>
                <a:cubicBezTo>
                  <a:pt x="37910" y="22736"/>
                  <a:pt x="36146" y="22736"/>
                  <a:pt x="33942" y="20463"/>
                </a:cubicBezTo>
                <a:cubicBezTo>
                  <a:pt x="30857" y="20463"/>
                  <a:pt x="29093" y="20463"/>
                  <a:pt x="26448" y="20463"/>
                </a:cubicBezTo>
                <a:cubicBezTo>
                  <a:pt x="24685" y="20463"/>
                  <a:pt x="22481" y="20463"/>
                  <a:pt x="20718" y="20463"/>
                </a:cubicBezTo>
                <a:cubicBezTo>
                  <a:pt x="18955" y="20463"/>
                  <a:pt x="16751" y="20463"/>
                  <a:pt x="14546" y="20463"/>
                </a:cubicBezTo>
                <a:cubicBezTo>
                  <a:pt x="12342" y="20463"/>
                  <a:pt x="9697" y="20463"/>
                  <a:pt x="7934" y="20463"/>
                </a:cubicBezTo>
                <a:cubicBezTo>
                  <a:pt x="6171" y="20463"/>
                  <a:pt x="3967" y="20463"/>
                  <a:pt x="2204" y="20463"/>
                </a:cubicBezTo>
                <a:cubicBezTo>
                  <a:pt x="1322" y="29557"/>
                  <a:pt x="2644" y="36378"/>
                  <a:pt x="4408" y="36378"/>
                </a:cubicBezTo>
                <a:cubicBezTo>
                  <a:pt x="6171" y="34105"/>
                  <a:pt x="7934" y="34105"/>
                  <a:pt x="9697" y="36378"/>
                </a:cubicBezTo>
                <a:cubicBezTo>
                  <a:pt x="11461" y="36378"/>
                  <a:pt x="13224" y="36378"/>
                  <a:pt x="14987" y="36378"/>
                </a:cubicBezTo>
                <a:cubicBezTo>
                  <a:pt x="16751" y="36378"/>
                  <a:pt x="18955" y="36378"/>
                  <a:pt x="22040" y="36378"/>
                </a:cubicBezTo>
                <a:cubicBezTo>
                  <a:pt x="24244" y="36378"/>
                  <a:pt x="26008" y="36378"/>
                  <a:pt x="27771" y="38652"/>
                </a:cubicBezTo>
                <a:cubicBezTo>
                  <a:pt x="29534" y="38652"/>
                  <a:pt x="32179" y="38652"/>
                  <a:pt x="34383" y="38652"/>
                </a:cubicBezTo>
                <a:cubicBezTo>
                  <a:pt x="36146" y="38652"/>
                  <a:pt x="37910" y="38652"/>
                  <a:pt x="39673" y="43200"/>
                </a:cubicBezTo>
                <a:quadBezTo>
                  <a:pt x="41436" y="43200"/>
                  <a:pt x="43200" y="43200"/>
                </a:quadBez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1997312" name=""/>
          <p:cNvSpPr/>
          <p:nvPr/>
        </p:nvSpPr>
        <p:spPr bwMode="auto">
          <a:xfrm>
            <a:off x="8554056" y="4879132"/>
            <a:ext cx="408214" cy="165229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200" y="43200"/>
                </a:moveTo>
                <a:cubicBezTo>
                  <a:pt x="38057" y="40658"/>
                  <a:pt x="33942" y="35576"/>
                  <a:pt x="29828" y="33035"/>
                </a:cubicBezTo>
                <a:cubicBezTo>
                  <a:pt x="25714" y="33035"/>
                  <a:pt x="22628" y="25411"/>
                  <a:pt x="18514" y="22870"/>
                </a:cubicBezTo>
                <a:cubicBezTo>
                  <a:pt x="13371" y="15247"/>
                  <a:pt x="9257" y="12705"/>
                  <a:pt x="4114" y="7623"/>
                </a:cubicBezTo>
                <a:lnTo>
                  <a:pt x="0" y="0"/>
                </a:ln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6029116" name=""/>
          <p:cNvSpPr/>
          <p:nvPr/>
        </p:nvSpPr>
        <p:spPr bwMode="auto">
          <a:xfrm>
            <a:off x="7990331" y="4869412"/>
            <a:ext cx="1039974" cy="194387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1585" y="4319"/>
                </a:moveTo>
                <a:cubicBezTo>
                  <a:pt x="41585" y="12960"/>
                  <a:pt x="42796" y="19440"/>
                  <a:pt x="43200" y="28079"/>
                </a:cubicBezTo>
                <a:cubicBezTo>
                  <a:pt x="41988" y="34559"/>
                  <a:pt x="40373" y="34559"/>
                  <a:pt x="39566" y="25920"/>
                </a:cubicBezTo>
                <a:cubicBezTo>
                  <a:pt x="39970" y="17279"/>
                  <a:pt x="40777" y="8639"/>
                  <a:pt x="41181" y="0"/>
                </a:cubicBezTo>
                <a:cubicBezTo>
                  <a:pt x="39566" y="2159"/>
                  <a:pt x="38355" y="8639"/>
                  <a:pt x="36740" y="15119"/>
                </a:cubicBezTo>
                <a:cubicBezTo>
                  <a:pt x="36740" y="23759"/>
                  <a:pt x="37143" y="32400"/>
                  <a:pt x="35528" y="32400"/>
                </a:cubicBezTo>
                <a:cubicBezTo>
                  <a:pt x="35125" y="23759"/>
                  <a:pt x="35125" y="15119"/>
                  <a:pt x="35125" y="6480"/>
                </a:cubicBezTo>
                <a:cubicBezTo>
                  <a:pt x="34721" y="15119"/>
                  <a:pt x="34317" y="23759"/>
                  <a:pt x="33106" y="17279"/>
                </a:cubicBezTo>
                <a:cubicBezTo>
                  <a:pt x="32702" y="8639"/>
                  <a:pt x="31087" y="8639"/>
                  <a:pt x="29472" y="8639"/>
                </a:cubicBezTo>
                <a:cubicBezTo>
                  <a:pt x="25839" y="8639"/>
                  <a:pt x="23820" y="10799"/>
                  <a:pt x="22205" y="10799"/>
                </a:cubicBezTo>
                <a:cubicBezTo>
                  <a:pt x="20590" y="4319"/>
                  <a:pt x="17360" y="2159"/>
                  <a:pt x="15745" y="2159"/>
                </a:cubicBezTo>
                <a:cubicBezTo>
                  <a:pt x="13727" y="2159"/>
                  <a:pt x="12112" y="2159"/>
                  <a:pt x="10093" y="6480"/>
                </a:cubicBezTo>
                <a:cubicBezTo>
                  <a:pt x="8478" y="6480"/>
                  <a:pt x="6459" y="6480"/>
                  <a:pt x="3633" y="6480"/>
                </a:cubicBezTo>
                <a:cubicBezTo>
                  <a:pt x="1614" y="8639"/>
                  <a:pt x="0" y="12960"/>
                  <a:pt x="1211" y="19440"/>
                </a:cubicBezTo>
                <a:cubicBezTo>
                  <a:pt x="2826" y="21599"/>
                  <a:pt x="4441" y="21599"/>
                  <a:pt x="6056" y="21599"/>
                </a:cubicBezTo>
                <a:cubicBezTo>
                  <a:pt x="7671" y="21599"/>
                  <a:pt x="10093" y="21599"/>
                  <a:pt x="11708" y="21599"/>
                </a:cubicBezTo>
                <a:cubicBezTo>
                  <a:pt x="13727" y="23759"/>
                  <a:pt x="15342" y="23759"/>
                  <a:pt x="16957" y="25920"/>
                </a:cubicBezTo>
                <a:cubicBezTo>
                  <a:pt x="18571" y="25920"/>
                  <a:pt x="20186" y="25920"/>
                  <a:pt x="21801" y="25920"/>
                </a:cubicBezTo>
                <a:cubicBezTo>
                  <a:pt x="23416" y="25920"/>
                  <a:pt x="25031" y="23759"/>
                  <a:pt x="26646" y="23759"/>
                </a:cubicBezTo>
                <a:cubicBezTo>
                  <a:pt x="28261" y="23759"/>
                  <a:pt x="29876" y="23759"/>
                  <a:pt x="31491" y="30239"/>
                </a:cubicBezTo>
                <a:cubicBezTo>
                  <a:pt x="32702" y="36719"/>
                  <a:pt x="31087" y="43200"/>
                  <a:pt x="29472" y="43200"/>
                </a:cubicBezTo>
                <a:cubicBezTo>
                  <a:pt x="27857" y="41039"/>
                  <a:pt x="26242" y="38880"/>
                  <a:pt x="24628" y="36719"/>
                </a:cubicBezTo>
                <a:cubicBezTo>
                  <a:pt x="23013" y="36719"/>
                  <a:pt x="20590" y="36719"/>
                  <a:pt x="18975" y="36719"/>
                </a:cubicBezTo>
                <a:cubicBezTo>
                  <a:pt x="17360" y="32400"/>
                  <a:pt x="14938" y="32400"/>
                  <a:pt x="12919" y="32400"/>
                </a:cubicBezTo>
                <a:cubicBezTo>
                  <a:pt x="10900" y="32400"/>
                  <a:pt x="9285" y="32400"/>
                  <a:pt x="7671" y="32400"/>
                </a:cubicBezTo>
                <a:cubicBezTo>
                  <a:pt x="6056" y="32400"/>
                  <a:pt x="4441" y="34559"/>
                  <a:pt x="2826" y="28079"/>
                </a:cubicBezTo>
                <a:quadBezTo>
                  <a:pt x="1614" y="19440"/>
                  <a:pt x="0" y="12960"/>
                </a:quadBez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0452616" name="Text 0"/>
          <p:cNvSpPr/>
          <p:nvPr/>
        </p:nvSpPr>
        <p:spPr bwMode="auto">
          <a:xfrm>
            <a:off x="395362" y="348258"/>
            <a:ext cx="4924276" cy="705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2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</a:rPr>
              <a:t>Manufacturing Process &amp; Quality Checks</a:t>
            </a:r>
            <a:endParaRPr lang="en-US" sz="2200"/>
          </a:p>
        </p:txBody>
      </p:sp>
      <p:sp>
        <p:nvSpPr>
          <p:cNvPr id="390560907" name="Shape 1"/>
          <p:cNvSpPr/>
          <p:nvPr/>
        </p:nvSpPr>
        <p:spPr bwMode="auto">
          <a:xfrm>
            <a:off x="395362" y="1189137"/>
            <a:ext cx="4924276" cy="1661145"/>
          </a:xfrm>
          <a:prstGeom prst="roundRect">
            <a:avLst>
              <a:gd name="adj" fmla="val 2856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339747577" name="Shape 2"/>
          <p:cNvSpPr/>
          <p:nvPr/>
        </p:nvSpPr>
        <p:spPr bwMode="auto">
          <a:xfrm>
            <a:off x="513085" y="1306860"/>
            <a:ext cx="338882" cy="338882"/>
          </a:xfrm>
          <a:prstGeom prst="roundRect">
            <a:avLst>
              <a:gd name="adj" fmla="val 16862591"/>
            </a:avLst>
          </a:prstGeom>
          <a:solidFill>
            <a:srgbClr val="26A688"/>
          </a:solidFill>
          <a:ln/>
        </p:spPr>
      </p:sp>
      <p:pic>
        <p:nvPicPr>
          <p:cNvPr id="1952488316" name="Image 1" descr="preencoded.png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606251" y="1400026"/>
            <a:ext cx="152474" cy="152474"/>
          </a:xfrm>
          <a:prstGeom prst="rect">
            <a:avLst/>
          </a:prstGeom>
        </p:spPr>
      </p:pic>
      <p:sp>
        <p:nvSpPr>
          <p:cNvPr id="862186932" name="Text 3"/>
          <p:cNvSpPr/>
          <p:nvPr/>
        </p:nvSpPr>
        <p:spPr bwMode="auto">
          <a:xfrm>
            <a:off x="513085" y="1735708"/>
            <a:ext cx="277147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</a:rPr>
              <a:t>Step 1: Raw Material Inspection</a:t>
            </a:r>
            <a:endParaRPr lang="en-US" sz="1100"/>
          </a:p>
        </p:txBody>
      </p:sp>
      <p:sp>
        <p:nvSpPr>
          <p:cNvPr id="1250853662" name="Text 4"/>
          <p:cNvSpPr/>
          <p:nvPr/>
        </p:nvSpPr>
        <p:spPr bwMode="auto">
          <a:xfrm>
            <a:off x="513085" y="1966168"/>
            <a:ext cx="4688830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85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Identity Testing</a:t>
            </a:r>
            <a:endParaRPr lang="en-US" sz="850"/>
          </a:p>
          <a:p>
            <a:pPr marL="342900" indent="-3429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85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Purity Testing</a:t>
            </a:r>
            <a:endParaRPr lang="en-US" sz="850"/>
          </a:p>
          <a:p>
            <a:pPr marL="342900" indent="-3429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85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Moisture Testing</a:t>
            </a:r>
            <a:endParaRPr lang="en-US" sz="850"/>
          </a:p>
        </p:txBody>
      </p:sp>
      <p:sp>
        <p:nvSpPr>
          <p:cNvPr id="1290913640" name="Text 5"/>
          <p:cNvSpPr/>
          <p:nvPr/>
        </p:nvSpPr>
        <p:spPr bwMode="auto">
          <a:xfrm>
            <a:off x="513085" y="2570187"/>
            <a:ext cx="4688830" cy="16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 b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QMS Module:</a:t>
            </a:r>
            <a:r>
              <a:rPr lang="en-US" sz="85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 Quality Control (QC)</a:t>
            </a:r>
            <a:endParaRPr lang="en-US" sz="850"/>
          </a:p>
        </p:txBody>
      </p:sp>
      <p:sp>
        <p:nvSpPr>
          <p:cNvPr id="500412274" name="Shape 6"/>
          <p:cNvSpPr/>
          <p:nvPr/>
        </p:nvSpPr>
        <p:spPr bwMode="auto">
          <a:xfrm>
            <a:off x="395362" y="2940248"/>
            <a:ext cx="4924276" cy="1854994"/>
          </a:xfrm>
          <a:prstGeom prst="roundRect">
            <a:avLst>
              <a:gd name="adj" fmla="val 2558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940630747" name="Shape 7"/>
          <p:cNvSpPr/>
          <p:nvPr/>
        </p:nvSpPr>
        <p:spPr bwMode="auto">
          <a:xfrm>
            <a:off x="513085" y="3057971"/>
            <a:ext cx="338882" cy="338882"/>
          </a:xfrm>
          <a:prstGeom prst="roundRect">
            <a:avLst>
              <a:gd name="adj" fmla="val 16862591"/>
            </a:avLst>
          </a:prstGeom>
          <a:solidFill>
            <a:srgbClr val="26A688"/>
          </a:solidFill>
          <a:ln/>
        </p:spPr>
      </p:sp>
      <p:pic>
        <p:nvPicPr>
          <p:cNvPr id="1598284923" name="Image 2" descr="preencoded.png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606251" y="3151137"/>
            <a:ext cx="152474" cy="152474"/>
          </a:xfrm>
          <a:prstGeom prst="rect">
            <a:avLst/>
          </a:prstGeom>
        </p:spPr>
      </p:pic>
      <p:sp>
        <p:nvSpPr>
          <p:cNvPr id="1686264438" name="Text 8"/>
          <p:cNvSpPr/>
          <p:nvPr/>
        </p:nvSpPr>
        <p:spPr bwMode="auto">
          <a:xfrm>
            <a:off x="513085" y="3486819"/>
            <a:ext cx="2603525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</a:rPr>
              <a:t>Step 2: Tablet Manufacturing</a:t>
            </a:r>
            <a:endParaRPr lang="en-US" sz="1100"/>
          </a:p>
        </p:txBody>
      </p:sp>
      <p:sp>
        <p:nvSpPr>
          <p:cNvPr id="193761383" name="Text 9"/>
          <p:cNvSpPr/>
          <p:nvPr/>
        </p:nvSpPr>
        <p:spPr bwMode="auto">
          <a:xfrm>
            <a:off x="513085" y="3717280"/>
            <a:ext cx="4688830" cy="743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85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Tablet Weight</a:t>
            </a:r>
            <a:endParaRPr lang="en-US" sz="850"/>
          </a:p>
          <a:p>
            <a:pPr marL="342900" indent="-3429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85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Hardness</a:t>
            </a:r>
            <a:endParaRPr lang="en-US" sz="850"/>
          </a:p>
          <a:p>
            <a:pPr marL="342900" indent="-3429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85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Dissolution</a:t>
            </a:r>
            <a:endParaRPr lang="en-US" sz="850"/>
          </a:p>
          <a:p>
            <a:pPr marL="342900" indent="-3429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85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Appearance</a:t>
            </a:r>
            <a:endParaRPr lang="en-US" sz="850"/>
          </a:p>
        </p:txBody>
      </p:sp>
      <p:sp>
        <p:nvSpPr>
          <p:cNvPr id="1259600961" name="Text 10"/>
          <p:cNvSpPr/>
          <p:nvPr/>
        </p:nvSpPr>
        <p:spPr bwMode="auto">
          <a:xfrm>
            <a:off x="513085" y="4515148"/>
            <a:ext cx="4688830" cy="16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 b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QMS Module:</a:t>
            </a:r>
            <a:r>
              <a:rPr lang="en-US" sz="85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 In-Process Quality Checks</a:t>
            </a:r>
            <a:endParaRPr lang="en-US" sz="850"/>
          </a:p>
        </p:txBody>
      </p:sp>
      <p:sp>
        <p:nvSpPr>
          <p:cNvPr id="1715070488" name=""/>
          <p:cNvSpPr/>
          <p:nvPr/>
        </p:nvSpPr>
        <p:spPr bwMode="auto">
          <a:xfrm>
            <a:off x="8903953" y="5034642"/>
            <a:ext cx="38877" cy="19438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43200"/>
                </a:moveTo>
                <a:lnTo>
                  <a:pt x="43200" y="0"/>
                </a:ln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46649939" name="Image 0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5731125" y="0"/>
            <a:ext cx="3429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0902848" name="Text 0"/>
          <p:cNvSpPr/>
          <p:nvPr/>
        </p:nvSpPr>
        <p:spPr bwMode="auto">
          <a:xfrm>
            <a:off x="445219" y="372145"/>
            <a:ext cx="4883869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35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</a:rPr>
              <a:t>Deviation Management</a:t>
            </a:r>
            <a:endParaRPr lang="en-US" sz="2350"/>
          </a:p>
        </p:txBody>
      </p:sp>
      <p:pic>
        <p:nvPicPr>
          <p:cNvPr id="1824784905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45219" y="1353517"/>
            <a:ext cx="5262563" cy="2961531"/>
          </a:xfrm>
          <a:prstGeom prst="rect">
            <a:avLst/>
          </a:prstGeom>
        </p:spPr>
      </p:pic>
      <p:sp>
        <p:nvSpPr>
          <p:cNvPr id="1719590328" name="Shape 1"/>
          <p:cNvSpPr/>
          <p:nvPr/>
        </p:nvSpPr>
        <p:spPr bwMode="auto">
          <a:xfrm>
            <a:off x="6004396" y="1010766"/>
            <a:ext cx="2698998" cy="1102891"/>
          </a:xfrm>
          <a:prstGeom prst="roundRect">
            <a:avLst>
              <a:gd name="adj" fmla="val 4555"/>
            </a:avLst>
          </a:prstGeom>
          <a:solidFill>
            <a:srgbClr val="FCF2B5"/>
          </a:solidFill>
          <a:ln/>
        </p:spPr>
      </p:sp>
      <p:pic>
        <p:nvPicPr>
          <p:cNvPr id="492512701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123980" y="1158329"/>
            <a:ext cx="186854" cy="149498"/>
          </a:xfrm>
          <a:prstGeom prst="rect">
            <a:avLst/>
          </a:prstGeom>
        </p:spPr>
      </p:pic>
      <p:sp>
        <p:nvSpPr>
          <p:cNvPr id="433859499" name="Text 2"/>
          <p:cNvSpPr/>
          <p:nvPr/>
        </p:nvSpPr>
        <p:spPr bwMode="auto">
          <a:xfrm>
            <a:off x="6430417" y="1141512"/>
            <a:ext cx="1952402" cy="191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50" b="1">
                <a:solidFill>
                  <a:srgbClr val="000000"/>
                </a:solidFill>
                <a:latin typeface="Unbounded Bold"/>
                <a:ea typeface="Unbounded Bold"/>
                <a:cs typeface="Unbounded Bold"/>
              </a:rPr>
              <a:t>⚠</a:t>
            </a:r>
            <a:r>
              <a:rPr lang="en-US" sz="1150" b="1">
                <a:solidFill>
                  <a:srgbClr val="000000"/>
                </a:solidFill>
                <a:latin typeface="Unbounded Bold"/>
                <a:ea typeface="Unbounded Bold"/>
                <a:cs typeface="Unbounded Bold"/>
              </a:rPr>
              <a:t> Scenario</a:t>
            </a:r>
            <a:endParaRPr lang="en-US" sz="1150"/>
          </a:p>
        </p:txBody>
      </p:sp>
      <p:sp>
        <p:nvSpPr>
          <p:cNvPr id="1584785004" name="Text 3"/>
          <p:cNvSpPr/>
          <p:nvPr/>
        </p:nvSpPr>
        <p:spPr bwMode="auto">
          <a:xfrm>
            <a:off x="6430417" y="1434033"/>
            <a:ext cx="2153394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  <a:defRPr/>
            </a:pPr>
            <a:r>
              <a:rPr lang="en-US" sz="9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Expected:</a:t>
            </a:r>
            <a:r>
              <a:rPr lang="en-US" sz="9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500 mg ± 5%</a:t>
            </a:r>
            <a:endParaRPr lang="en-US" sz="900"/>
          </a:p>
          <a:p>
            <a:pPr marL="0" indent="0" algn="l">
              <a:lnSpc>
                <a:spcPct val="123000"/>
              </a:lnSpc>
              <a:buNone/>
              <a:defRPr/>
            </a:pPr>
            <a:r>
              <a:rPr lang="en-US" sz="900" b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Actual:</a:t>
            </a:r>
            <a:r>
              <a:rPr lang="en-US" sz="9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550 mg — exceeds acceptable limit.</a:t>
            </a:r>
            <a:endParaRPr lang="en-US" sz="900"/>
          </a:p>
        </p:txBody>
      </p:sp>
      <p:sp>
        <p:nvSpPr>
          <p:cNvPr id="2027277903" name="Text 4"/>
          <p:cNvSpPr/>
          <p:nvPr/>
        </p:nvSpPr>
        <p:spPr bwMode="auto">
          <a:xfrm>
            <a:off x="6004396" y="2227138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5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</a:rPr>
              <a:t>QMS Actions</a:t>
            </a:r>
            <a:endParaRPr lang="en-US" sz="1150"/>
          </a:p>
        </p:txBody>
      </p:sp>
      <p:sp>
        <p:nvSpPr>
          <p:cNvPr id="76375733" name="Text 5"/>
          <p:cNvSpPr/>
          <p:nvPr/>
        </p:nvSpPr>
        <p:spPr bwMode="auto">
          <a:xfrm>
            <a:off x="6004396" y="2527474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900">
                <a:solidFill>
                  <a:srgbClr val="333F70"/>
                </a:solidFill>
                <a:latin typeface="Unbounded Light"/>
                <a:ea typeface="Unbounded Light"/>
                <a:cs typeface="Unbounded Light"/>
              </a:rPr>
              <a:t>01</a:t>
            </a:r>
            <a:endParaRPr lang="en-US" sz="900"/>
          </a:p>
        </p:txBody>
      </p:sp>
      <p:sp>
        <p:nvSpPr>
          <p:cNvPr id="671724830" name="Shape 6"/>
          <p:cNvSpPr/>
          <p:nvPr/>
        </p:nvSpPr>
        <p:spPr bwMode="auto">
          <a:xfrm>
            <a:off x="6004396" y="2716411"/>
            <a:ext cx="2698998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151568764" name="Text 7"/>
          <p:cNvSpPr/>
          <p:nvPr/>
        </p:nvSpPr>
        <p:spPr bwMode="auto">
          <a:xfrm>
            <a:off x="6004396" y="2804740"/>
            <a:ext cx="2159050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5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</a:rPr>
              <a:t>Raise Deviation Record</a:t>
            </a:r>
            <a:endParaRPr lang="en-US" sz="1150"/>
          </a:p>
        </p:txBody>
      </p:sp>
      <p:sp>
        <p:nvSpPr>
          <p:cNvPr id="1079761577" name="Text 8"/>
          <p:cNvSpPr/>
          <p:nvPr/>
        </p:nvSpPr>
        <p:spPr bwMode="auto">
          <a:xfrm>
            <a:off x="6004396" y="3182169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900">
                <a:solidFill>
                  <a:srgbClr val="333F70"/>
                </a:solidFill>
                <a:latin typeface="Unbounded Light"/>
                <a:ea typeface="Unbounded Light"/>
                <a:cs typeface="Unbounded Light"/>
              </a:rPr>
              <a:t>02</a:t>
            </a:r>
            <a:endParaRPr lang="en-US" sz="900"/>
          </a:p>
        </p:txBody>
      </p:sp>
      <p:sp>
        <p:nvSpPr>
          <p:cNvPr id="439852460" name="Shape 9"/>
          <p:cNvSpPr/>
          <p:nvPr/>
        </p:nvSpPr>
        <p:spPr bwMode="auto">
          <a:xfrm>
            <a:off x="6004396" y="3371106"/>
            <a:ext cx="2698998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217024037" name="Text 10"/>
          <p:cNvSpPr/>
          <p:nvPr/>
        </p:nvSpPr>
        <p:spPr bwMode="auto">
          <a:xfrm>
            <a:off x="6004396" y="3459435"/>
            <a:ext cx="2195959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5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</a:rPr>
              <a:t>Investigate Root Cause</a:t>
            </a:r>
            <a:endParaRPr lang="en-US" sz="1150"/>
          </a:p>
        </p:txBody>
      </p:sp>
      <p:sp>
        <p:nvSpPr>
          <p:cNvPr id="1902279715" name="Text 11"/>
          <p:cNvSpPr/>
          <p:nvPr/>
        </p:nvSpPr>
        <p:spPr bwMode="auto">
          <a:xfrm>
            <a:off x="6004396" y="3836863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900">
                <a:solidFill>
                  <a:srgbClr val="333F70"/>
                </a:solidFill>
                <a:latin typeface="Unbounded Light"/>
                <a:ea typeface="Unbounded Light"/>
                <a:cs typeface="Unbounded Light"/>
              </a:rPr>
              <a:t>03</a:t>
            </a:r>
            <a:endParaRPr lang="en-US" sz="900"/>
          </a:p>
        </p:txBody>
      </p:sp>
      <p:sp>
        <p:nvSpPr>
          <p:cNvPr id="945055796" name="Shape 12"/>
          <p:cNvSpPr/>
          <p:nvPr/>
        </p:nvSpPr>
        <p:spPr bwMode="auto">
          <a:xfrm>
            <a:off x="6004396" y="4025801"/>
            <a:ext cx="2698998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2131912069" name="Text 13"/>
          <p:cNvSpPr/>
          <p:nvPr/>
        </p:nvSpPr>
        <p:spPr bwMode="auto">
          <a:xfrm>
            <a:off x="6004396" y="4114130"/>
            <a:ext cx="182225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5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</a:rPr>
              <a:t>Document Findings</a:t>
            </a:r>
            <a:endParaRPr lang="en-US" sz="1150"/>
          </a:p>
        </p:txBody>
      </p:sp>
      <p:sp>
        <p:nvSpPr>
          <p:cNvPr id="720466083" name="Text 14"/>
          <p:cNvSpPr/>
          <p:nvPr/>
        </p:nvSpPr>
        <p:spPr bwMode="auto">
          <a:xfrm>
            <a:off x="6004396" y="4504134"/>
            <a:ext cx="313960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  <a:defRPr/>
            </a:pPr>
            <a:r>
              <a:rPr lang="en-US" sz="900" b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QMS Module:</a:t>
            </a:r>
            <a:r>
              <a:rPr lang="en-US" sz="9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 Deviation Management</a:t>
            </a:r>
            <a:endParaRPr lang="en-US" sz="900"/>
          </a:p>
        </p:txBody>
      </p:sp>
      <p:sp>
        <p:nvSpPr>
          <p:cNvPr id="1636173435" name=""/>
          <p:cNvSpPr/>
          <p:nvPr/>
        </p:nvSpPr>
        <p:spPr bwMode="auto">
          <a:xfrm>
            <a:off x="8116683" y="4888851"/>
            <a:ext cx="913622" cy="14579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2880"/>
                </a:moveTo>
                <a:cubicBezTo>
                  <a:pt x="2757" y="2880"/>
                  <a:pt x="6893" y="2880"/>
                  <a:pt x="8731" y="2880"/>
                </a:cubicBezTo>
                <a:cubicBezTo>
                  <a:pt x="11029" y="2880"/>
                  <a:pt x="14246" y="2880"/>
                  <a:pt x="17463" y="2880"/>
                </a:cubicBezTo>
                <a:cubicBezTo>
                  <a:pt x="19302" y="2880"/>
                  <a:pt x="21600" y="2880"/>
                  <a:pt x="23438" y="2880"/>
                </a:cubicBezTo>
                <a:cubicBezTo>
                  <a:pt x="26195" y="2880"/>
                  <a:pt x="28493" y="2880"/>
                  <a:pt x="30331" y="2880"/>
                </a:cubicBezTo>
                <a:cubicBezTo>
                  <a:pt x="32170" y="0"/>
                  <a:pt x="34008" y="0"/>
                  <a:pt x="35846" y="0"/>
                </a:cubicBezTo>
                <a:cubicBezTo>
                  <a:pt x="38144" y="0"/>
                  <a:pt x="40902" y="0"/>
                  <a:pt x="42740" y="2880"/>
                </a:cubicBezTo>
                <a:cubicBezTo>
                  <a:pt x="42740" y="14399"/>
                  <a:pt x="43200" y="25920"/>
                  <a:pt x="41361" y="25920"/>
                </a:cubicBezTo>
                <a:cubicBezTo>
                  <a:pt x="39523" y="28800"/>
                  <a:pt x="37225" y="28800"/>
                  <a:pt x="34468" y="28800"/>
                </a:cubicBezTo>
                <a:cubicBezTo>
                  <a:pt x="32629" y="28800"/>
                  <a:pt x="30791" y="28800"/>
                  <a:pt x="28953" y="25920"/>
                </a:cubicBezTo>
                <a:cubicBezTo>
                  <a:pt x="27114" y="25920"/>
                  <a:pt x="24817" y="25920"/>
                  <a:pt x="22519" y="25920"/>
                </a:cubicBezTo>
                <a:cubicBezTo>
                  <a:pt x="19302" y="25920"/>
                  <a:pt x="17463" y="23039"/>
                  <a:pt x="15165" y="23039"/>
                </a:cubicBezTo>
                <a:cubicBezTo>
                  <a:pt x="13327" y="23039"/>
                  <a:pt x="10110" y="23039"/>
                  <a:pt x="8272" y="23039"/>
                </a:cubicBezTo>
                <a:cubicBezTo>
                  <a:pt x="6434" y="23039"/>
                  <a:pt x="4136" y="25920"/>
                  <a:pt x="2297" y="25920"/>
                </a:cubicBezTo>
                <a:cubicBezTo>
                  <a:pt x="919" y="14399"/>
                  <a:pt x="919" y="2880"/>
                  <a:pt x="919" y="14399"/>
                </a:cubicBezTo>
                <a:cubicBezTo>
                  <a:pt x="459" y="25920"/>
                  <a:pt x="459" y="37440"/>
                  <a:pt x="2297" y="37440"/>
                </a:cubicBezTo>
                <a:cubicBezTo>
                  <a:pt x="4136" y="37440"/>
                  <a:pt x="6434" y="37440"/>
                  <a:pt x="8272" y="37440"/>
                </a:cubicBezTo>
                <a:cubicBezTo>
                  <a:pt x="10110" y="37440"/>
                  <a:pt x="12408" y="40319"/>
                  <a:pt x="14246" y="40319"/>
                </a:cubicBezTo>
                <a:cubicBezTo>
                  <a:pt x="16085" y="43200"/>
                  <a:pt x="17923" y="43200"/>
                  <a:pt x="19761" y="43200"/>
                </a:cubicBezTo>
                <a:cubicBezTo>
                  <a:pt x="22059" y="43200"/>
                  <a:pt x="23897" y="40319"/>
                  <a:pt x="26195" y="40319"/>
                </a:cubicBezTo>
                <a:cubicBezTo>
                  <a:pt x="28034" y="37440"/>
                  <a:pt x="30331" y="37440"/>
                  <a:pt x="32170" y="37440"/>
                </a:cubicBezTo>
                <a:cubicBezTo>
                  <a:pt x="34008" y="34560"/>
                  <a:pt x="35846" y="34560"/>
                  <a:pt x="37685" y="34560"/>
                </a:cubicBezTo>
                <a:cubicBezTo>
                  <a:pt x="39523" y="34560"/>
                  <a:pt x="41361" y="37440"/>
                  <a:pt x="43200" y="40319"/>
                </a:cubicBezTo>
                <a:lnTo>
                  <a:pt x="41361" y="37440"/>
                </a:ln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1217869" name=""/>
          <p:cNvSpPr/>
          <p:nvPr/>
        </p:nvSpPr>
        <p:spPr bwMode="auto">
          <a:xfrm>
            <a:off x="7980612" y="4908290"/>
            <a:ext cx="1117729" cy="106913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200" y="43200"/>
                </a:moveTo>
                <a:cubicBezTo>
                  <a:pt x="41697" y="43200"/>
                  <a:pt x="40194" y="39272"/>
                  <a:pt x="38692" y="39272"/>
                </a:cubicBezTo>
                <a:cubicBezTo>
                  <a:pt x="37189" y="35345"/>
                  <a:pt x="35686" y="31418"/>
                  <a:pt x="34184" y="31418"/>
                </a:cubicBezTo>
                <a:cubicBezTo>
                  <a:pt x="32306" y="27490"/>
                  <a:pt x="30427" y="27490"/>
                  <a:pt x="28549" y="27490"/>
                </a:cubicBezTo>
                <a:cubicBezTo>
                  <a:pt x="27046" y="27490"/>
                  <a:pt x="25544" y="27490"/>
                  <a:pt x="22539" y="23563"/>
                </a:cubicBezTo>
                <a:cubicBezTo>
                  <a:pt x="21036" y="23563"/>
                  <a:pt x="19158" y="19636"/>
                  <a:pt x="16528" y="15709"/>
                </a:cubicBezTo>
                <a:cubicBezTo>
                  <a:pt x="14650" y="15709"/>
                  <a:pt x="12396" y="11781"/>
                  <a:pt x="10142" y="11781"/>
                </a:cubicBezTo>
                <a:cubicBezTo>
                  <a:pt x="8264" y="11781"/>
                  <a:pt x="6010" y="7854"/>
                  <a:pt x="4507" y="3927"/>
                </a:cubicBezTo>
                <a:cubicBezTo>
                  <a:pt x="3005" y="0"/>
                  <a:pt x="1502" y="0"/>
                  <a:pt x="0" y="0"/>
                </a:cubicBezTo>
                <a:cubicBezTo>
                  <a:pt x="375" y="19636"/>
                  <a:pt x="2253" y="23563"/>
                  <a:pt x="3756" y="27490"/>
                </a:cubicBezTo>
                <a:cubicBezTo>
                  <a:pt x="5259" y="27490"/>
                  <a:pt x="7137" y="27490"/>
                  <a:pt x="8640" y="27490"/>
                </a:cubicBezTo>
                <a:cubicBezTo>
                  <a:pt x="10142" y="27490"/>
                  <a:pt x="11645" y="27490"/>
                  <a:pt x="13147" y="27490"/>
                </a:cubicBez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1325195" name="Text 0"/>
          <p:cNvSpPr/>
          <p:nvPr/>
        </p:nvSpPr>
        <p:spPr bwMode="auto">
          <a:xfrm>
            <a:off x="980182" y="336872"/>
            <a:ext cx="3059906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0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</a:rPr>
              <a:t>CAPA Process</a:t>
            </a:r>
            <a:endParaRPr lang="en-US" sz="2000"/>
          </a:p>
        </p:txBody>
      </p:sp>
      <p:sp>
        <p:nvSpPr>
          <p:cNvPr id="416558900" name="Text 1"/>
          <p:cNvSpPr/>
          <p:nvPr/>
        </p:nvSpPr>
        <p:spPr bwMode="auto">
          <a:xfrm>
            <a:off x="980182" y="815057"/>
            <a:ext cx="764076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999"/>
              </a:lnSpc>
              <a:buNone/>
              <a:defRPr/>
            </a:pPr>
            <a:r>
              <a:rPr lang="en-US" sz="800" b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Root Cause:</a:t>
            </a:r>
            <a:r>
              <a:rPr lang="en-US" sz="8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 Machine Calibration Issue</a:t>
            </a:r>
            <a:endParaRPr lang="en-US" sz="800"/>
          </a:p>
        </p:txBody>
      </p:sp>
      <p:pic>
        <p:nvPicPr>
          <p:cNvPr id="969643995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778794" y="1045442"/>
            <a:ext cx="5586264" cy="2556644"/>
          </a:xfrm>
          <a:prstGeom prst="rect">
            <a:avLst/>
          </a:prstGeom>
        </p:spPr>
      </p:pic>
      <p:sp>
        <p:nvSpPr>
          <p:cNvPr id="798434157" name="Text 2"/>
          <p:cNvSpPr/>
          <p:nvPr/>
        </p:nvSpPr>
        <p:spPr bwMode="auto">
          <a:xfrm>
            <a:off x="6056218" y="2893948"/>
            <a:ext cx="1048777" cy="404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25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</a:rPr>
              <a:t>Preventive Action</a:t>
            </a:r>
            <a:endParaRPr lang="en-US" sz="1250"/>
          </a:p>
        </p:txBody>
      </p:sp>
      <p:sp>
        <p:nvSpPr>
          <p:cNvPr id="1845423199" name="Text 3"/>
          <p:cNvSpPr/>
          <p:nvPr/>
        </p:nvSpPr>
        <p:spPr bwMode="auto">
          <a:xfrm>
            <a:off x="4734472" y="2893948"/>
            <a:ext cx="1048777" cy="404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25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</a:rPr>
              <a:t>Corrective Action</a:t>
            </a:r>
            <a:endParaRPr lang="en-US" sz="1250"/>
          </a:p>
        </p:txBody>
      </p:sp>
      <p:sp>
        <p:nvSpPr>
          <p:cNvPr id="979655382" name="Text 4"/>
          <p:cNvSpPr/>
          <p:nvPr/>
        </p:nvSpPr>
        <p:spPr bwMode="auto">
          <a:xfrm>
            <a:off x="3419909" y="2893948"/>
            <a:ext cx="1048777" cy="404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25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</a:rPr>
              <a:t>Investigation</a:t>
            </a:r>
            <a:endParaRPr lang="en-US" sz="1250"/>
          </a:p>
        </p:txBody>
      </p:sp>
      <p:sp>
        <p:nvSpPr>
          <p:cNvPr id="694473346" name="Text 5"/>
          <p:cNvSpPr/>
          <p:nvPr/>
        </p:nvSpPr>
        <p:spPr bwMode="auto">
          <a:xfrm>
            <a:off x="2076612" y="2893948"/>
            <a:ext cx="1048777" cy="404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25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</a:rPr>
              <a:t>Issue Identified</a:t>
            </a:r>
            <a:endParaRPr lang="en-US" sz="1250"/>
          </a:p>
        </p:txBody>
      </p:sp>
      <p:sp>
        <p:nvSpPr>
          <p:cNvPr id="780589453" name="Text 6"/>
          <p:cNvSpPr/>
          <p:nvPr/>
        </p:nvSpPr>
        <p:spPr bwMode="auto">
          <a:xfrm>
            <a:off x="980182" y="3688035"/>
            <a:ext cx="764076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999"/>
              </a:lnSpc>
              <a:buNone/>
              <a:defRPr/>
            </a:pPr>
            <a:r>
              <a:rPr lang="en-US" sz="8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The CAPA process ensures issues are not only resolved but prevented from recurring.</a:t>
            </a:r>
            <a:endParaRPr lang="en-US" sz="800"/>
          </a:p>
        </p:txBody>
      </p:sp>
      <p:sp>
        <p:nvSpPr>
          <p:cNvPr id="843350623" name="Text 7"/>
          <p:cNvSpPr/>
          <p:nvPr/>
        </p:nvSpPr>
        <p:spPr bwMode="auto">
          <a:xfrm>
            <a:off x="980182" y="3994845"/>
            <a:ext cx="1994446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</a:rPr>
              <a:t>Corrective Actions</a:t>
            </a:r>
            <a:endParaRPr lang="en-US" sz="1000"/>
          </a:p>
        </p:txBody>
      </p:sp>
      <p:sp>
        <p:nvSpPr>
          <p:cNvPr id="1663920747" name="Text 8"/>
          <p:cNvSpPr/>
          <p:nvPr/>
        </p:nvSpPr>
        <p:spPr bwMode="auto">
          <a:xfrm>
            <a:off x="980182" y="4233937"/>
            <a:ext cx="3464793" cy="315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5999"/>
              </a:lnSpc>
              <a:buSzPct val="100000"/>
              <a:buChar char="•"/>
              <a:defRPr/>
            </a:pPr>
            <a:r>
              <a:rPr lang="en-US" sz="8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Recalibrate Machine</a:t>
            </a:r>
            <a:endParaRPr lang="en-US" sz="800"/>
          </a:p>
          <a:p>
            <a:pPr marL="342900" indent="-342900" algn="l">
              <a:lnSpc>
                <a:spcPct val="115999"/>
              </a:lnSpc>
              <a:buSzPct val="100000"/>
              <a:buChar char="•"/>
              <a:defRPr/>
            </a:pPr>
            <a:r>
              <a:rPr lang="en-US" sz="8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Recheck Tablet Weight</a:t>
            </a:r>
            <a:endParaRPr lang="en-US" sz="800"/>
          </a:p>
        </p:txBody>
      </p:sp>
      <p:sp>
        <p:nvSpPr>
          <p:cNvPr id="348091680" name="Text 9"/>
          <p:cNvSpPr/>
          <p:nvPr/>
        </p:nvSpPr>
        <p:spPr bwMode="auto">
          <a:xfrm>
            <a:off x="4703638" y="3994845"/>
            <a:ext cx="1993925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0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</a:rPr>
              <a:t>Preventive Actions</a:t>
            </a:r>
            <a:endParaRPr lang="en-US" sz="1000"/>
          </a:p>
        </p:txBody>
      </p:sp>
      <p:sp>
        <p:nvSpPr>
          <p:cNvPr id="1412353602" name="Text 10"/>
          <p:cNvSpPr/>
          <p:nvPr/>
        </p:nvSpPr>
        <p:spPr bwMode="auto">
          <a:xfrm>
            <a:off x="4703638" y="4233937"/>
            <a:ext cx="3464793" cy="315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5999"/>
              </a:lnSpc>
              <a:buSzPct val="100000"/>
              <a:buChar char="•"/>
              <a:defRPr/>
            </a:pPr>
            <a:r>
              <a:rPr lang="en-US" sz="8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Weekly Calibration Schedule</a:t>
            </a:r>
            <a:endParaRPr lang="en-US" sz="800"/>
          </a:p>
          <a:p>
            <a:pPr marL="342900" indent="-342900" algn="l">
              <a:lnSpc>
                <a:spcPct val="115999"/>
              </a:lnSpc>
              <a:buSzPct val="100000"/>
              <a:buChar char="•"/>
              <a:defRPr/>
            </a:pPr>
            <a:r>
              <a:rPr lang="en-US" sz="8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Additional Quality Reviews</a:t>
            </a:r>
            <a:endParaRPr lang="en-US" sz="800"/>
          </a:p>
        </p:txBody>
      </p:sp>
      <p:sp>
        <p:nvSpPr>
          <p:cNvPr id="879999590" name="Text 11"/>
          <p:cNvSpPr/>
          <p:nvPr/>
        </p:nvSpPr>
        <p:spPr bwMode="auto">
          <a:xfrm>
            <a:off x="980182" y="4662190"/>
            <a:ext cx="764076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999"/>
              </a:lnSpc>
              <a:buNone/>
              <a:defRPr/>
            </a:pPr>
            <a:r>
              <a:rPr lang="en-US" sz="800" b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QMS Module:</a:t>
            </a:r>
            <a:r>
              <a:rPr lang="en-US" sz="8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 CAPA Management</a:t>
            </a:r>
            <a:endParaRPr lang="en-US" sz="800"/>
          </a:p>
        </p:txBody>
      </p:sp>
      <p:sp>
        <p:nvSpPr>
          <p:cNvPr id="1256666380" name=""/>
          <p:cNvSpPr/>
          <p:nvPr/>
        </p:nvSpPr>
        <p:spPr bwMode="auto">
          <a:xfrm>
            <a:off x="8087525" y="4859693"/>
            <a:ext cx="962219" cy="194387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436" y="38880"/>
                </a:moveTo>
                <a:cubicBezTo>
                  <a:pt x="2181" y="38880"/>
                  <a:pt x="3927" y="38880"/>
                  <a:pt x="5672" y="38880"/>
                </a:cubicBezTo>
                <a:cubicBezTo>
                  <a:pt x="7418" y="38880"/>
                  <a:pt x="9163" y="38880"/>
                  <a:pt x="10909" y="41040"/>
                </a:cubicBezTo>
                <a:cubicBezTo>
                  <a:pt x="12654" y="41040"/>
                  <a:pt x="14400" y="41040"/>
                  <a:pt x="16145" y="41040"/>
                </a:cubicBezTo>
                <a:cubicBezTo>
                  <a:pt x="17890" y="41040"/>
                  <a:pt x="19636" y="43200"/>
                  <a:pt x="21818" y="43200"/>
                </a:cubicBezTo>
                <a:cubicBezTo>
                  <a:pt x="23563" y="43200"/>
                  <a:pt x="26181" y="43200"/>
                  <a:pt x="27927" y="43200"/>
                </a:cubicBezTo>
                <a:cubicBezTo>
                  <a:pt x="30109" y="43200"/>
                  <a:pt x="31854" y="43200"/>
                  <a:pt x="33600" y="43200"/>
                </a:cubicBezTo>
                <a:cubicBezTo>
                  <a:pt x="35345" y="41040"/>
                  <a:pt x="37090" y="38880"/>
                  <a:pt x="38836" y="38880"/>
                </a:cubicBezTo>
                <a:cubicBezTo>
                  <a:pt x="40581" y="34560"/>
                  <a:pt x="42327" y="32400"/>
                  <a:pt x="43200" y="23759"/>
                </a:cubicBezTo>
                <a:cubicBezTo>
                  <a:pt x="41890" y="17279"/>
                  <a:pt x="40145" y="15120"/>
                  <a:pt x="38400" y="12960"/>
                </a:cubicBezTo>
                <a:cubicBezTo>
                  <a:pt x="36654" y="12960"/>
                  <a:pt x="34472" y="10799"/>
                  <a:pt x="31854" y="8640"/>
                </a:cubicBezTo>
                <a:cubicBezTo>
                  <a:pt x="30109" y="8640"/>
                  <a:pt x="28363" y="8640"/>
                  <a:pt x="26618" y="6480"/>
                </a:cubicBezTo>
                <a:cubicBezTo>
                  <a:pt x="24872" y="6480"/>
                  <a:pt x="23127" y="2160"/>
                  <a:pt x="21381" y="0"/>
                </a:cubicBezTo>
                <a:cubicBezTo>
                  <a:pt x="18763" y="0"/>
                  <a:pt x="16581" y="0"/>
                  <a:pt x="14836" y="0"/>
                </a:cubicBezTo>
                <a:cubicBezTo>
                  <a:pt x="12218" y="0"/>
                  <a:pt x="9599" y="0"/>
                  <a:pt x="7854" y="2160"/>
                </a:cubicBezTo>
                <a:cubicBezTo>
                  <a:pt x="6109" y="4319"/>
                  <a:pt x="4363" y="8640"/>
                  <a:pt x="2618" y="8640"/>
                </a:cubicBezTo>
                <a:cubicBezTo>
                  <a:pt x="872" y="10799"/>
                  <a:pt x="0" y="19440"/>
                  <a:pt x="1309" y="25920"/>
                </a:cubicBezTo>
                <a:cubicBezTo>
                  <a:pt x="3054" y="25920"/>
                  <a:pt x="4799" y="25920"/>
                  <a:pt x="6545" y="25920"/>
                </a:cubicBezTo>
                <a:cubicBezTo>
                  <a:pt x="9163" y="25920"/>
                  <a:pt x="10909" y="25920"/>
                  <a:pt x="13527" y="25920"/>
                </a:cubicBezTo>
                <a:cubicBezTo>
                  <a:pt x="15709" y="25920"/>
                  <a:pt x="17454" y="25920"/>
                  <a:pt x="19636" y="25920"/>
                </a:cubicBezTo>
                <a:cubicBezTo>
                  <a:pt x="21381" y="25920"/>
                  <a:pt x="23127" y="25920"/>
                  <a:pt x="24872" y="25920"/>
                </a:cubicBezTo>
                <a:cubicBezTo>
                  <a:pt x="26618" y="25920"/>
                  <a:pt x="29672" y="25920"/>
                  <a:pt x="31418" y="25920"/>
                </a:cubicBezTo>
                <a:cubicBezTo>
                  <a:pt x="33163" y="25920"/>
                  <a:pt x="34909" y="25920"/>
                  <a:pt x="36654" y="25920"/>
                </a:cubicBezTo>
                <a:cubicBezTo>
                  <a:pt x="34472" y="19440"/>
                  <a:pt x="32290" y="15120"/>
                  <a:pt x="30109" y="8640"/>
                </a:cubicBezTo>
                <a:cubicBezTo>
                  <a:pt x="27927" y="2160"/>
                  <a:pt x="26181" y="0"/>
                  <a:pt x="23999" y="0"/>
                </a:cubicBezTo>
                <a:cubicBezTo>
                  <a:pt x="22254" y="0"/>
                  <a:pt x="20072" y="0"/>
                  <a:pt x="18327" y="0"/>
                </a:cubicBezTo>
                <a:cubicBezTo>
                  <a:pt x="15709" y="2160"/>
                  <a:pt x="13527" y="4319"/>
                  <a:pt x="10909" y="8640"/>
                </a:cubicBezTo>
                <a:cubicBezTo>
                  <a:pt x="8727" y="10799"/>
                  <a:pt x="6545" y="17279"/>
                  <a:pt x="4363" y="19440"/>
                </a:cubicBezTo>
                <a:lnTo>
                  <a:pt x="2618" y="23759"/>
                </a:ln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367302" name="Text 0"/>
          <p:cNvSpPr/>
          <p:nvPr/>
        </p:nvSpPr>
        <p:spPr bwMode="auto">
          <a:xfrm>
            <a:off x="674489" y="346770"/>
            <a:ext cx="5523830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2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</a:rPr>
              <a:t>Recall Management Process</a:t>
            </a:r>
            <a:endParaRPr lang="en-US" sz="2200"/>
          </a:p>
        </p:txBody>
      </p:sp>
      <p:pic>
        <p:nvPicPr>
          <p:cNvPr id="938803075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74489" y="935906"/>
            <a:ext cx="3759622" cy="3759622"/>
          </a:xfrm>
          <a:prstGeom prst="rect">
            <a:avLst/>
          </a:prstGeom>
        </p:spPr>
      </p:pic>
      <p:sp>
        <p:nvSpPr>
          <p:cNvPr id="1093813848" name="Text 1"/>
          <p:cNvSpPr/>
          <p:nvPr/>
        </p:nvSpPr>
        <p:spPr bwMode="auto">
          <a:xfrm>
            <a:off x="4714503" y="1990502"/>
            <a:ext cx="221188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</a:rPr>
              <a:t>Patient Safety First</a:t>
            </a:r>
            <a:endParaRPr lang="en-US" sz="1100"/>
          </a:p>
        </p:txBody>
      </p:sp>
      <p:sp>
        <p:nvSpPr>
          <p:cNvPr id="1346742559" name="Text 2"/>
          <p:cNvSpPr/>
          <p:nvPr/>
        </p:nvSpPr>
        <p:spPr bwMode="auto">
          <a:xfrm>
            <a:off x="4714503" y="2256979"/>
            <a:ext cx="375962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When a quality issue is identified post-distribution, the recall process ensures swift, coordinated action to protect patients.</a:t>
            </a:r>
            <a:endParaRPr lang="en-US" sz="850"/>
          </a:p>
        </p:txBody>
      </p:sp>
      <p:sp>
        <p:nvSpPr>
          <p:cNvPr id="1589609718" name="Text 3"/>
          <p:cNvSpPr/>
          <p:nvPr/>
        </p:nvSpPr>
        <p:spPr bwMode="auto">
          <a:xfrm>
            <a:off x="4714503" y="2662684"/>
            <a:ext cx="3759622" cy="743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85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Triggered by customer complaint or internal finding</a:t>
            </a:r>
            <a:endParaRPr lang="en-US" sz="850"/>
          </a:p>
          <a:p>
            <a:pPr marL="342900" indent="-3429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85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Affected batches identified and isolated</a:t>
            </a:r>
            <a:endParaRPr lang="en-US" sz="850"/>
          </a:p>
          <a:p>
            <a:pPr marL="342900" indent="-3429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85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Distributors notified and product removed</a:t>
            </a:r>
            <a:endParaRPr lang="en-US" sz="850"/>
          </a:p>
          <a:p>
            <a:pPr marL="342900" indent="-342900" algn="l">
              <a:lnSpc>
                <a:spcPct val="120000"/>
              </a:lnSpc>
              <a:buSzPct val="100000"/>
              <a:buChar char="•"/>
              <a:defRPr/>
            </a:pPr>
            <a:r>
              <a:rPr lang="en-US" sz="85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Recall completion verified and documented</a:t>
            </a:r>
            <a:endParaRPr lang="en-US" sz="850"/>
          </a:p>
        </p:txBody>
      </p:sp>
      <p:sp>
        <p:nvSpPr>
          <p:cNvPr id="570350997" name="Text 4"/>
          <p:cNvSpPr/>
          <p:nvPr/>
        </p:nvSpPr>
        <p:spPr bwMode="auto">
          <a:xfrm>
            <a:off x="4714503" y="3487564"/>
            <a:ext cx="4216822" cy="16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 b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QMS Module:</a:t>
            </a:r>
            <a:r>
              <a:rPr lang="en-US" sz="85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 Recall Management</a:t>
            </a:r>
            <a:endParaRPr lang="en-US" sz="850"/>
          </a:p>
        </p:txBody>
      </p:sp>
      <p:sp>
        <p:nvSpPr>
          <p:cNvPr id="673099493" name=""/>
          <p:cNvSpPr/>
          <p:nvPr/>
        </p:nvSpPr>
        <p:spPr bwMode="auto">
          <a:xfrm>
            <a:off x="8068086" y="4869412"/>
            <a:ext cx="991377" cy="165229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22870"/>
                </a:moveTo>
                <a:cubicBezTo>
                  <a:pt x="2964" y="20329"/>
                  <a:pt x="5082" y="17788"/>
                  <a:pt x="8047" y="15247"/>
                </a:cubicBezTo>
                <a:cubicBezTo>
                  <a:pt x="9741" y="12705"/>
                  <a:pt x="11435" y="7623"/>
                  <a:pt x="13129" y="5082"/>
                </a:cubicBezTo>
                <a:cubicBezTo>
                  <a:pt x="14823" y="2541"/>
                  <a:pt x="17364" y="2541"/>
                  <a:pt x="19905" y="0"/>
                </a:cubicBezTo>
                <a:cubicBezTo>
                  <a:pt x="21600" y="0"/>
                  <a:pt x="23294" y="0"/>
                  <a:pt x="24988" y="0"/>
                </a:cubicBezTo>
                <a:cubicBezTo>
                  <a:pt x="26682" y="0"/>
                  <a:pt x="28376" y="0"/>
                  <a:pt x="30070" y="0"/>
                </a:cubicBezTo>
                <a:cubicBezTo>
                  <a:pt x="33458" y="7623"/>
                  <a:pt x="35152" y="7623"/>
                  <a:pt x="36847" y="10164"/>
                </a:cubicBezTo>
                <a:cubicBezTo>
                  <a:pt x="38541" y="12705"/>
                  <a:pt x="40235" y="12705"/>
                  <a:pt x="41929" y="17788"/>
                </a:cubicBezTo>
                <a:cubicBezTo>
                  <a:pt x="43200" y="25411"/>
                  <a:pt x="42776" y="35576"/>
                  <a:pt x="41082" y="38117"/>
                </a:cubicBezTo>
                <a:cubicBezTo>
                  <a:pt x="39388" y="40658"/>
                  <a:pt x="37694" y="40658"/>
                  <a:pt x="36000" y="40658"/>
                </a:cubicBezTo>
                <a:cubicBezTo>
                  <a:pt x="34305" y="38117"/>
                  <a:pt x="32611" y="38117"/>
                  <a:pt x="30494" y="38117"/>
                </a:cubicBezTo>
                <a:cubicBezTo>
                  <a:pt x="27529" y="33035"/>
                  <a:pt x="25835" y="33035"/>
                  <a:pt x="23717" y="33035"/>
                </a:cubicBezTo>
                <a:cubicBezTo>
                  <a:pt x="21600" y="30494"/>
                  <a:pt x="19905" y="30494"/>
                  <a:pt x="18211" y="30494"/>
                </a:cubicBezTo>
                <a:cubicBezTo>
                  <a:pt x="16517" y="30494"/>
                  <a:pt x="14823" y="30494"/>
                  <a:pt x="12705" y="30494"/>
                </a:cubicBezTo>
                <a:cubicBezTo>
                  <a:pt x="10588" y="30494"/>
                  <a:pt x="8470" y="30494"/>
                  <a:pt x="6776" y="30494"/>
                </a:cubicBezTo>
                <a:cubicBezTo>
                  <a:pt x="4658" y="33035"/>
                  <a:pt x="3388" y="40658"/>
                  <a:pt x="5082" y="43199"/>
                </a:cubicBezTo>
                <a:cubicBezTo>
                  <a:pt x="6776" y="43199"/>
                  <a:pt x="8470" y="43199"/>
                  <a:pt x="10164" y="40658"/>
                </a:cubicBezTo>
                <a:cubicBezTo>
                  <a:pt x="11858" y="40658"/>
                  <a:pt x="13976" y="40658"/>
                  <a:pt x="15670" y="40658"/>
                </a:cubicBezTo>
                <a:cubicBezTo>
                  <a:pt x="17364" y="40658"/>
                  <a:pt x="19058" y="40658"/>
                  <a:pt x="21176" y="43199"/>
                </a:cubicBezTo>
                <a:cubicBezTo>
                  <a:pt x="22870" y="43199"/>
                  <a:pt x="24564" y="43199"/>
                  <a:pt x="26682" y="40658"/>
                </a:cubicBezTo>
                <a:cubicBezTo>
                  <a:pt x="28376" y="38117"/>
                  <a:pt x="28799" y="27952"/>
                  <a:pt x="29223" y="17788"/>
                </a:cubicBezTo>
                <a:cubicBezTo>
                  <a:pt x="29223" y="7623"/>
                  <a:pt x="27105" y="5082"/>
                  <a:pt x="24988" y="5082"/>
                </a:cubicBezTo>
                <a:cubicBezTo>
                  <a:pt x="24141" y="15247"/>
                  <a:pt x="23717" y="25411"/>
                  <a:pt x="25411" y="27952"/>
                </a:cubicBezTo>
                <a:lnTo>
                  <a:pt x="27105" y="20329"/>
                </a:ln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8058695" name=""/>
          <p:cNvSpPr/>
          <p:nvPr/>
        </p:nvSpPr>
        <p:spPr bwMode="auto">
          <a:xfrm>
            <a:off x="8048647" y="4888851"/>
            <a:ext cx="787270" cy="184668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8533" y="0"/>
                </a:moveTo>
                <a:cubicBezTo>
                  <a:pt x="3733" y="4547"/>
                  <a:pt x="1066" y="11368"/>
                  <a:pt x="0" y="20463"/>
                </a:cubicBezTo>
                <a:cubicBezTo>
                  <a:pt x="0" y="29557"/>
                  <a:pt x="0" y="38652"/>
                  <a:pt x="2666" y="43200"/>
                </a:cubicBezTo>
                <a:cubicBezTo>
                  <a:pt x="4800" y="40926"/>
                  <a:pt x="4266" y="31831"/>
                  <a:pt x="6933" y="31831"/>
                </a:cubicBezTo>
                <a:cubicBezTo>
                  <a:pt x="9066" y="31831"/>
                  <a:pt x="11200" y="31831"/>
                  <a:pt x="13333" y="31831"/>
                </a:cubicBezTo>
                <a:cubicBezTo>
                  <a:pt x="17066" y="31831"/>
                  <a:pt x="20800" y="31831"/>
                  <a:pt x="22933" y="31831"/>
                </a:cubicBezTo>
                <a:cubicBezTo>
                  <a:pt x="26133" y="29557"/>
                  <a:pt x="29333" y="29557"/>
                  <a:pt x="32533" y="29557"/>
                </a:cubicBezTo>
                <a:cubicBezTo>
                  <a:pt x="35733" y="25010"/>
                  <a:pt x="38400" y="20463"/>
                  <a:pt x="41066" y="13642"/>
                </a:cubicBezTo>
                <a:lnTo>
                  <a:pt x="43200" y="13642"/>
                </a:ln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770752" name="Text 0"/>
          <p:cNvSpPr/>
          <p:nvPr/>
        </p:nvSpPr>
        <p:spPr bwMode="auto">
          <a:xfrm>
            <a:off x="521643" y="322808"/>
            <a:ext cx="5330800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3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</a:rPr>
              <a:t>End-to-End QMS Workflow</a:t>
            </a:r>
            <a:endParaRPr lang="en-US" sz="2300"/>
          </a:p>
        </p:txBody>
      </p:sp>
      <p:pic>
        <p:nvPicPr>
          <p:cNvPr id="1345704798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1643" y="884113"/>
            <a:ext cx="6553200" cy="3657600"/>
          </a:xfrm>
          <a:prstGeom prst="rect">
            <a:avLst/>
          </a:prstGeom>
        </p:spPr>
      </p:pic>
      <p:sp>
        <p:nvSpPr>
          <p:cNvPr id="1414467021" name="Text 1"/>
          <p:cNvSpPr/>
          <p:nvPr/>
        </p:nvSpPr>
        <p:spPr bwMode="auto">
          <a:xfrm>
            <a:off x="521643" y="4651028"/>
            <a:ext cx="855784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  <a:defRPr/>
            </a:pPr>
            <a:r>
              <a:rPr lang="en-US" sz="9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Every stage is governed by a QMS module, ensuring traceability, compliance, and patient safety from raw material to market.</a:t>
            </a:r>
            <a:endParaRPr lang="en-US" sz="900"/>
          </a:p>
        </p:txBody>
      </p:sp>
      <p:sp>
        <p:nvSpPr>
          <p:cNvPr id="1855381642" name=""/>
          <p:cNvSpPr/>
          <p:nvPr/>
        </p:nvSpPr>
        <p:spPr bwMode="auto">
          <a:xfrm>
            <a:off x="8038928" y="4859693"/>
            <a:ext cx="1010816" cy="165229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246" y="27952"/>
                </a:moveTo>
                <a:cubicBezTo>
                  <a:pt x="2907" y="22870"/>
                  <a:pt x="5400" y="20329"/>
                  <a:pt x="7061" y="20329"/>
                </a:cubicBezTo>
                <a:cubicBezTo>
                  <a:pt x="9138" y="20329"/>
                  <a:pt x="10800" y="20329"/>
                  <a:pt x="12461" y="20329"/>
                </a:cubicBezTo>
                <a:cubicBezTo>
                  <a:pt x="14538" y="17788"/>
                  <a:pt x="17030" y="17788"/>
                  <a:pt x="19107" y="12705"/>
                </a:cubicBezTo>
                <a:cubicBezTo>
                  <a:pt x="21184" y="10164"/>
                  <a:pt x="24092" y="10164"/>
                  <a:pt x="26999" y="12705"/>
                </a:cubicBezTo>
                <a:cubicBezTo>
                  <a:pt x="28661" y="12705"/>
                  <a:pt x="31153" y="12705"/>
                  <a:pt x="33230" y="12705"/>
                </a:cubicBezTo>
                <a:cubicBezTo>
                  <a:pt x="35307" y="12705"/>
                  <a:pt x="36969" y="10164"/>
                  <a:pt x="39046" y="10164"/>
                </a:cubicBezTo>
                <a:cubicBezTo>
                  <a:pt x="40707" y="12705"/>
                  <a:pt x="42369" y="15247"/>
                  <a:pt x="43200" y="27952"/>
                </a:cubicBezTo>
                <a:cubicBezTo>
                  <a:pt x="43200" y="38117"/>
                  <a:pt x="41538" y="38117"/>
                  <a:pt x="39876" y="40658"/>
                </a:cubicBezTo>
                <a:cubicBezTo>
                  <a:pt x="37384" y="40658"/>
                  <a:pt x="35723" y="40658"/>
                  <a:pt x="33230" y="40658"/>
                </a:cubicBezTo>
                <a:cubicBezTo>
                  <a:pt x="30738" y="43199"/>
                  <a:pt x="29076" y="43199"/>
                  <a:pt x="27415" y="40658"/>
                </a:cubicBezTo>
                <a:cubicBezTo>
                  <a:pt x="25753" y="40658"/>
                  <a:pt x="23676" y="40658"/>
                  <a:pt x="21184" y="40658"/>
                </a:cubicBezTo>
                <a:cubicBezTo>
                  <a:pt x="19523" y="40658"/>
                  <a:pt x="17861" y="40658"/>
                  <a:pt x="15784" y="40658"/>
                </a:cubicBezTo>
                <a:cubicBezTo>
                  <a:pt x="14123" y="40658"/>
                  <a:pt x="12461" y="43199"/>
                  <a:pt x="10800" y="43199"/>
                </a:cubicBezTo>
                <a:cubicBezTo>
                  <a:pt x="7892" y="43199"/>
                  <a:pt x="6230" y="40658"/>
                  <a:pt x="4569" y="40658"/>
                </a:cubicBezTo>
                <a:cubicBezTo>
                  <a:pt x="2907" y="40658"/>
                  <a:pt x="1661" y="33035"/>
                  <a:pt x="1246" y="20329"/>
                </a:cubicBezTo>
                <a:quadBezTo>
                  <a:pt x="830" y="10164"/>
                  <a:pt x="0" y="0"/>
                </a:quadBez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4205233" name="Text 0"/>
          <p:cNvSpPr/>
          <p:nvPr/>
        </p:nvSpPr>
        <p:spPr bwMode="auto">
          <a:xfrm>
            <a:off x="465162" y="374898"/>
            <a:ext cx="37798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6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</a:rPr>
              <a:t>Key Learnings</a:t>
            </a:r>
            <a:endParaRPr lang="en-US" sz="2600"/>
          </a:p>
        </p:txBody>
      </p:sp>
      <p:sp>
        <p:nvSpPr>
          <p:cNvPr id="372052665" name="Shape 1"/>
          <p:cNvSpPr/>
          <p:nvPr/>
        </p:nvSpPr>
        <p:spPr bwMode="auto">
          <a:xfrm>
            <a:off x="465162" y="1039341"/>
            <a:ext cx="2654796" cy="1213991"/>
          </a:xfrm>
          <a:prstGeom prst="roundRect">
            <a:avLst>
              <a:gd name="adj" fmla="val 4598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502262539" name="Shape 2"/>
          <p:cNvSpPr/>
          <p:nvPr/>
        </p:nvSpPr>
        <p:spPr bwMode="auto">
          <a:xfrm>
            <a:off x="602828" y="1177007"/>
            <a:ext cx="398711" cy="398711"/>
          </a:xfrm>
          <a:prstGeom prst="roundRect">
            <a:avLst>
              <a:gd name="adj" fmla="val 14332257"/>
            </a:avLst>
          </a:prstGeom>
          <a:solidFill>
            <a:srgbClr val="26A688"/>
          </a:solidFill>
          <a:ln/>
        </p:spPr>
      </p:sp>
      <p:pic>
        <p:nvPicPr>
          <p:cNvPr id="796468885" name="Image 0" descr="preencoded.png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712440" y="1286619"/>
            <a:ext cx="179411" cy="179411"/>
          </a:xfrm>
          <a:prstGeom prst="rect">
            <a:avLst/>
          </a:prstGeom>
        </p:spPr>
      </p:pic>
      <p:sp>
        <p:nvSpPr>
          <p:cNvPr id="1890646099" name="Text 3"/>
          <p:cNvSpPr/>
          <p:nvPr/>
        </p:nvSpPr>
        <p:spPr bwMode="auto">
          <a:xfrm>
            <a:off x="602828" y="1700287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</a:rPr>
              <a:t>Quality Control</a:t>
            </a:r>
            <a:endParaRPr lang="en-US" sz="1300"/>
          </a:p>
        </p:txBody>
      </p:sp>
      <p:sp>
        <p:nvSpPr>
          <p:cNvPr id="1067990996" name="Shape 4"/>
          <p:cNvSpPr/>
          <p:nvPr/>
        </p:nvSpPr>
        <p:spPr bwMode="auto">
          <a:xfrm>
            <a:off x="3244528" y="1039341"/>
            <a:ext cx="2654871" cy="1213991"/>
          </a:xfrm>
          <a:prstGeom prst="roundRect">
            <a:avLst>
              <a:gd name="adj" fmla="val 4598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323203337" name="Shape 5"/>
          <p:cNvSpPr/>
          <p:nvPr/>
        </p:nvSpPr>
        <p:spPr bwMode="auto">
          <a:xfrm>
            <a:off x="3382194" y="1177007"/>
            <a:ext cx="398711" cy="398711"/>
          </a:xfrm>
          <a:prstGeom prst="roundRect">
            <a:avLst>
              <a:gd name="adj" fmla="val 14332257"/>
            </a:avLst>
          </a:prstGeom>
          <a:solidFill>
            <a:srgbClr val="26A688"/>
          </a:solidFill>
          <a:ln/>
        </p:spPr>
      </p:sp>
      <p:pic>
        <p:nvPicPr>
          <p:cNvPr id="178396646" name="Image 1" descr="preencoded.png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3491805" y="1286619"/>
            <a:ext cx="179411" cy="179411"/>
          </a:xfrm>
          <a:prstGeom prst="rect">
            <a:avLst/>
          </a:prstGeom>
        </p:spPr>
      </p:pic>
      <p:sp>
        <p:nvSpPr>
          <p:cNvPr id="1088691346" name="Text 6"/>
          <p:cNvSpPr/>
          <p:nvPr/>
        </p:nvSpPr>
        <p:spPr bwMode="auto">
          <a:xfrm>
            <a:off x="3382194" y="1700287"/>
            <a:ext cx="2379538" cy="415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</a:rPr>
              <a:t>Deviation Management</a:t>
            </a:r>
            <a:endParaRPr lang="en-US" sz="1300"/>
          </a:p>
        </p:txBody>
      </p:sp>
      <p:sp>
        <p:nvSpPr>
          <p:cNvPr id="806322893" name="Shape 7"/>
          <p:cNvSpPr/>
          <p:nvPr/>
        </p:nvSpPr>
        <p:spPr bwMode="auto">
          <a:xfrm>
            <a:off x="6023967" y="1039341"/>
            <a:ext cx="2654871" cy="1213991"/>
          </a:xfrm>
          <a:prstGeom prst="roundRect">
            <a:avLst>
              <a:gd name="adj" fmla="val 4598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991577746" name="Shape 8"/>
          <p:cNvSpPr/>
          <p:nvPr/>
        </p:nvSpPr>
        <p:spPr bwMode="auto">
          <a:xfrm>
            <a:off x="6161633" y="1177007"/>
            <a:ext cx="398711" cy="398711"/>
          </a:xfrm>
          <a:prstGeom prst="roundRect">
            <a:avLst>
              <a:gd name="adj" fmla="val 14332257"/>
            </a:avLst>
          </a:prstGeom>
          <a:solidFill>
            <a:srgbClr val="26A688"/>
          </a:solidFill>
          <a:ln/>
        </p:spPr>
      </p:sp>
      <p:pic>
        <p:nvPicPr>
          <p:cNvPr id="1426071460" name="Image 2" descr="preencoded.png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>
            <a:off x="6271245" y="1286619"/>
            <a:ext cx="179411" cy="179411"/>
          </a:xfrm>
          <a:prstGeom prst="rect">
            <a:avLst/>
          </a:prstGeom>
        </p:spPr>
      </p:pic>
      <p:sp>
        <p:nvSpPr>
          <p:cNvPr id="1586199214" name="Text 9"/>
          <p:cNvSpPr/>
          <p:nvPr/>
        </p:nvSpPr>
        <p:spPr bwMode="auto">
          <a:xfrm>
            <a:off x="6161633" y="1700287"/>
            <a:ext cx="203961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</a:rPr>
              <a:t>CAPA Management</a:t>
            </a:r>
            <a:endParaRPr lang="en-US" sz="1300"/>
          </a:p>
        </p:txBody>
      </p:sp>
      <p:sp>
        <p:nvSpPr>
          <p:cNvPr id="1405554031" name="Shape 10"/>
          <p:cNvSpPr/>
          <p:nvPr/>
        </p:nvSpPr>
        <p:spPr bwMode="auto">
          <a:xfrm>
            <a:off x="465162" y="2377901"/>
            <a:ext cx="4044553" cy="1006301"/>
          </a:xfrm>
          <a:prstGeom prst="roundRect">
            <a:avLst>
              <a:gd name="adj" fmla="val 5547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595209900" name="Shape 11"/>
          <p:cNvSpPr/>
          <p:nvPr/>
        </p:nvSpPr>
        <p:spPr bwMode="auto">
          <a:xfrm>
            <a:off x="602828" y="2515567"/>
            <a:ext cx="398711" cy="398711"/>
          </a:xfrm>
          <a:prstGeom prst="roundRect">
            <a:avLst>
              <a:gd name="adj" fmla="val 14332257"/>
            </a:avLst>
          </a:prstGeom>
          <a:solidFill>
            <a:srgbClr val="26A688"/>
          </a:solidFill>
          <a:ln/>
        </p:spPr>
      </p:sp>
      <p:pic>
        <p:nvPicPr>
          <p:cNvPr id="984965137" name="Image 3" descr="preencoded.png"/>
          <p:cNvPicPr>
            <a:picLocks noChangeAspect="1"/>
          </p:cNvPicPr>
          <p:nvPr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>
            <a:off x="712440" y="2625179"/>
            <a:ext cx="179411" cy="179411"/>
          </a:xfrm>
          <a:prstGeom prst="rect">
            <a:avLst/>
          </a:prstGeom>
        </p:spPr>
      </p:pic>
      <p:sp>
        <p:nvSpPr>
          <p:cNvPr id="1336819490" name="Text 12"/>
          <p:cNvSpPr/>
          <p:nvPr/>
        </p:nvSpPr>
        <p:spPr bwMode="auto">
          <a:xfrm>
            <a:off x="602828" y="3038847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</a:rPr>
              <a:t>Batch Approval</a:t>
            </a:r>
            <a:endParaRPr lang="en-US" sz="1300"/>
          </a:p>
        </p:txBody>
      </p:sp>
      <p:sp>
        <p:nvSpPr>
          <p:cNvPr id="1735092662" name="Shape 13"/>
          <p:cNvSpPr/>
          <p:nvPr/>
        </p:nvSpPr>
        <p:spPr bwMode="auto">
          <a:xfrm>
            <a:off x="4634285" y="2377901"/>
            <a:ext cx="4044553" cy="1006301"/>
          </a:xfrm>
          <a:prstGeom prst="roundRect">
            <a:avLst>
              <a:gd name="adj" fmla="val 5547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768808132" name="Shape 14"/>
          <p:cNvSpPr/>
          <p:nvPr/>
        </p:nvSpPr>
        <p:spPr bwMode="auto">
          <a:xfrm>
            <a:off x="4771951" y="2515567"/>
            <a:ext cx="398711" cy="398711"/>
          </a:xfrm>
          <a:prstGeom prst="roundRect">
            <a:avLst>
              <a:gd name="adj" fmla="val 14332257"/>
            </a:avLst>
          </a:prstGeom>
          <a:solidFill>
            <a:srgbClr val="26A688"/>
          </a:solidFill>
          <a:ln/>
        </p:spPr>
      </p:sp>
      <p:pic>
        <p:nvPicPr>
          <p:cNvPr id="623281630" name="Image 4" descr="preencoded.png"/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 bwMode="auto">
          <a:xfrm>
            <a:off x="4881563" y="2625179"/>
            <a:ext cx="179411" cy="179411"/>
          </a:xfrm>
          <a:prstGeom prst="rect">
            <a:avLst/>
          </a:prstGeom>
        </p:spPr>
      </p:pic>
      <p:sp>
        <p:nvSpPr>
          <p:cNvPr id="472980283" name="Text 15"/>
          <p:cNvSpPr/>
          <p:nvPr/>
        </p:nvSpPr>
        <p:spPr bwMode="auto">
          <a:xfrm>
            <a:off x="4771951" y="3038847"/>
            <a:ext cx="2085677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</a:rPr>
              <a:t>Recall Management</a:t>
            </a:r>
            <a:endParaRPr lang="en-US" sz="1300"/>
          </a:p>
        </p:txBody>
      </p:sp>
      <p:sp>
        <p:nvSpPr>
          <p:cNvPr id="2010578297" name="Text 16"/>
          <p:cNvSpPr/>
          <p:nvPr/>
        </p:nvSpPr>
        <p:spPr bwMode="auto">
          <a:xfrm>
            <a:off x="664518" y="3664446"/>
            <a:ext cx="8014320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  <a:defRPr/>
            </a:pPr>
            <a:r>
              <a:rPr lang="en-US" sz="10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"This workflow demonstrates how pharmaceutical manufacturers use QMS processes to ensure safe and effective medicines reach patients."</a:t>
            </a:r>
            <a:endParaRPr lang="en-US" sz="1000"/>
          </a:p>
        </p:txBody>
      </p:sp>
      <p:sp>
        <p:nvSpPr>
          <p:cNvPr id="1249948310" name="Shape 17"/>
          <p:cNvSpPr/>
          <p:nvPr/>
        </p:nvSpPr>
        <p:spPr bwMode="auto">
          <a:xfrm>
            <a:off x="465162" y="3524324"/>
            <a:ext cx="14288" cy="69220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904179052" name="Text 18"/>
          <p:cNvSpPr/>
          <p:nvPr/>
        </p:nvSpPr>
        <p:spPr bwMode="auto">
          <a:xfrm>
            <a:off x="465162" y="4356646"/>
            <a:ext cx="821367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  <a:defRPr/>
            </a:pPr>
            <a:r>
              <a:rPr lang="en-US" sz="10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QMS helps manufacturers maintain </a:t>
            </a:r>
            <a:r>
              <a:rPr lang="en-US" sz="1000" b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product quality</a:t>
            </a:r>
            <a:r>
              <a:rPr lang="en-US" sz="10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, </a:t>
            </a:r>
            <a:r>
              <a:rPr lang="en-US" sz="1000" b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regulatory compliance</a:t>
            </a:r>
            <a:r>
              <a:rPr lang="en-US" sz="10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, </a:t>
            </a:r>
            <a:r>
              <a:rPr lang="en-US" sz="1000" b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patient safety</a:t>
            </a:r>
            <a:r>
              <a:rPr lang="en-US" sz="10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, and </a:t>
            </a:r>
            <a:r>
              <a:rPr lang="en-US" sz="1000" b="1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continuous process improvement</a:t>
            </a:r>
            <a:r>
              <a:rPr lang="en-US" sz="1000">
                <a:solidFill>
                  <a:srgbClr val="333F70"/>
                </a:solidFill>
                <a:latin typeface="Open Sans"/>
                <a:ea typeface="Open Sans"/>
                <a:cs typeface="Open Sans"/>
              </a:rPr>
              <a:t> throughout the product lifecycle.</a:t>
            </a:r>
            <a:endParaRPr lang="en-US" sz="1000"/>
          </a:p>
        </p:txBody>
      </p:sp>
      <p:sp>
        <p:nvSpPr>
          <p:cNvPr id="918190276" name=""/>
          <p:cNvSpPr/>
          <p:nvPr/>
        </p:nvSpPr>
        <p:spPr bwMode="auto">
          <a:xfrm>
            <a:off x="8097244" y="4859693"/>
            <a:ext cx="942780" cy="213826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25527"/>
                </a:moveTo>
                <a:cubicBezTo>
                  <a:pt x="4008" y="29454"/>
                  <a:pt x="8461" y="31418"/>
                  <a:pt x="10688" y="31418"/>
                </a:cubicBezTo>
                <a:cubicBezTo>
                  <a:pt x="12915" y="31418"/>
                  <a:pt x="14696" y="31418"/>
                  <a:pt x="16923" y="31418"/>
                </a:cubicBezTo>
                <a:cubicBezTo>
                  <a:pt x="19595" y="31418"/>
                  <a:pt x="21377" y="31418"/>
                  <a:pt x="23604" y="29454"/>
                </a:cubicBezTo>
                <a:cubicBezTo>
                  <a:pt x="25830" y="27490"/>
                  <a:pt x="28057" y="27490"/>
                  <a:pt x="30284" y="27490"/>
                </a:cubicBezTo>
                <a:cubicBezTo>
                  <a:pt x="32065" y="27490"/>
                  <a:pt x="33847" y="27490"/>
                  <a:pt x="35628" y="27490"/>
                </a:cubicBezTo>
                <a:cubicBezTo>
                  <a:pt x="37410" y="27490"/>
                  <a:pt x="39191" y="27490"/>
                  <a:pt x="40973" y="27490"/>
                </a:cubicBezTo>
                <a:cubicBezTo>
                  <a:pt x="42754" y="29454"/>
                  <a:pt x="43200" y="21599"/>
                  <a:pt x="42309" y="13745"/>
                </a:cubicBezTo>
                <a:cubicBezTo>
                  <a:pt x="40973" y="7854"/>
                  <a:pt x="39637" y="1963"/>
                  <a:pt x="37855" y="0"/>
                </a:cubicBezTo>
                <a:cubicBezTo>
                  <a:pt x="35628" y="0"/>
                  <a:pt x="32065" y="0"/>
                  <a:pt x="30284" y="0"/>
                </a:cubicBezTo>
                <a:cubicBezTo>
                  <a:pt x="28503" y="0"/>
                  <a:pt x="26721" y="0"/>
                  <a:pt x="24049" y="0"/>
                </a:cubicBezTo>
                <a:cubicBezTo>
                  <a:pt x="21377" y="0"/>
                  <a:pt x="19595" y="0"/>
                  <a:pt x="16478" y="0"/>
                </a:cubicBezTo>
                <a:cubicBezTo>
                  <a:pt x="14251" y="0"/>
                  <a:pt x="12470" y="0"/>
                  <a:pt x="10243" y="0"/>
                </a:cubicBezTo>
                <a:cubicBezTo>
                  <a:pt x="8461" y="0"/>
                  <a:pt x="6680" y="0"/>
                  <a:pt x="4453" y="0"/>
                </a:cubicBezTo>
                <a:cubicBezTo>
                  <a:pt x="2672" y="0"/>
                  <a:pt x="2226" y="7854"/>
                  <a:pt x="1781" y="15709"/>
                </a:cubicBezTo>
                <a:cubicBezTo>
                  <a:pt x="445" y="21599"/>
                  <a:pt x="2226" y="23563"/>
                  <a:pt x="4008" y="23563"/>
                </a:cubicBezTo>
                <a:cubicBezTo>
                  <a:pt x="6235" y="23563"/>
                  <a:pt x="8016" y="23563"/>
                  <a:pt x="10243" y="23563"/>
                </a:cubicBezTo>
                <a:cubicBezTo>
                  <a:pt x="12470" y="23563"/>
                  <a:pt x="14251" y="23563"/>
                  <a:pt x="16032" y="25527"/>
                </a:cubicBezTo>
                <a:cubicBezTo>
                  <a:pt x="17814" y="25527"/>
                  <a:pt x="19595" y="27490"/>
                  <a:pt x="21377" y="27490"/>
                </a:cubicBezTo>
                <a:cubicBezTo>
                  <a:pt x="23158" y="27490"/>
                  <a:pt x="24940" y="27490"/>
                  <a:pt x="26721" y="27490"/>
                </a:cubicBezTo>
                <a:cubicBezTo>
                  <a:pt x="28503" y="27490"/>
                  <a:pt x="30284" y="25527"/>
                  <a:pt x="32065" y="25527"/>
                </a:cubicBezTo>
                <a:cubicBezTo>
                  <a:pt x="33847" y="23563"/>
                  <a:pt x="36074" y="23563"/>
                  <a:pt x="37855" y="23563"/>
                </a:cubicBezTo>
                <a:cubicBezTo>
                  <a:pt x="39637" y="25527"/>
                  <a:pt x="40973" y="31418"/>
                  <a:pt x="41418" y="39272"/>
                </a:cubicBezTo>
                <a:cubicBezTo>
                  <a:pt x="39191" y="43200"/>
                  <a:pt x="37410" y="43200"/>
                  <a:pt x="35628" y="43200"/>
                </a:cubicBezTo>
                <a:cubicBezTo>
                  <a:pt x="33847" y="41236"/>
                  <a:pt x="32065" y="39272"/>
                  <a:pt x="30284" y="39272"/>
                </a:cubicBezTo>
                <a:cubicBezTo>
                  <a:pt x="28503" y="39272"/>
                  <a:pt x="26721" y="39272"/>
                  <a:pt x="24494" y="37309"/>
                </a:cubicBezTo>
                <a:cubicBezTo>
                  <a:pt x="22713" y="33381"/>
                  <a:pt x="20931" y="27490"/>
                  <a:pt x="19150" y="21599"/>
                </a:cubicBezTo>
                <a:cubicBezTo>
                  <a:pt x="20486" y="15709"/>
                  <a:pt x="22268" y="15709"/>
                  <a:pt x="24049" y="15709"/>
                </a:cubicBezTo>
                <a:cubicBezTo>
                  <a:pt x="26276" y="11781"/>
                  <a:pt x="28503" y="9818"/>
                  <a:pt x="30284" y="7854"/>
                </a:cubicBezTo>
                <a:cubicBezTo>
                  <a:pt x="32065" y="7854"/>
                  <a:pt x="32065" y="15709"/>
                  <a:pt x="30284" y="15709"/>
                </a:cubicBezTo>
                <a:cubicBezTo>
                  <a:pt x="28057" y="15709"/>
                  <a:pt x="25385" y="13745"/>
                  <a:pt x="23158" y="11781"/>
                </a:cubicBezTo>
                <a:cubicBezTo>
                  <a:pt x="19595" y="11781"/>
                  <a:pt x="17814" y="11781"/>
                  <a:pt x="16032" y="9818"/>
                </a:cubicBezTo>
                <a:quadBezTo>
                  <a:pt x="14251" y="9818"/>
                  <a:pt x="12470" y="7854"/>
                </a:quadBez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2617526" name=""/>
          <p:cNvSpPr/>
          <p:nvPr/>
        </p:nvSpPr>
        <p:spPr bwMode="auto">
          <a:xfrm>
            <a:off x="8077806" y="4966606"/>
            <a:ext cx="174948" cy="58316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36000"/>
                </a:moveTo>
                <a:cubicBezTo>
                  <a:pt x="9600" y="36000"/>
                  <a:pt x="14400" y="7200"/>
                  <a:pt x="4799" y="0"/>
                </a:cubicBezTo>
                <a:cubicBezTo>
                  <a:pt x="4799" y="28800"/>
                  <a:pt x="14400" y="36000"/>
                  <a:pt x="24000" y="36000"/>
                </a:cubicBezTo>
                <a:quadBezTo>
                  <a:pt x="33599" y="36000"/>
                  <a:pt x="43200" y="43200"/>
                </a:quadBez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9942081" name=""/>
          <p:cNvSpPr/>
          <p:nvPr/>
        </p:nvSpPr>
        <p:spPr bwMode="auto">
          <a:xfrm>
            <a:off x="8019489" y="4976326"/>
            <a:ext cx="233265" cy="0"/>
          </a:xfrm>
          <a:custGeom>
            <a:avLst/>
            <a:gdLst/>
            <a:ahLst/>
            <a:cxnLst/>
            <a:rect l="l" t="t" r="r" b="b"/>
            <a:pathLst>
              <a:path w="43200" h="0" fill="none" stroke="1" extrusionOk="0">
                <a:moveTo>
                  <a:pt x="43200" y="0"/>
                </a:moveTo>
                <a:cubicBezTo>
                  <a:pt x="35999" y="0"/>
                  <a:pt x="28800" y="0"/>
                  <a:pt x="21600" y="0"/>
                </a:cubicBezTo>
                <a:cubicBezTo>
                  <a:pt x="14399" y="0"/>
                  <a:pt x="7200" y="0"/>
                  <a:pt x="0" y="0"/>
                </a:cubicBez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1270126" name=""/>
          <p:cNvSpPr/>
          <p:nvPr/>
        </p:nvSpPr>
        <p:spPr bwMode="auto">
          <a:xfrm>
            <a:off x="8291632" y="4820816"/>
            <a:ext cx="466530" cy="165229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cubicBezTo>
                  <a:pt x="3599" y="0"/>
                  <a:pt x="7199" y="2541"/>
                  <a:pt x="11699" y="7623"/>
                </a:cubicBezTo>
                <a:cubicBezTo>
                  <a:pt x="15300" y="10164"/>
                  <a:pt x="18899" y="12705"/>
                  <a:pt x="21599" y="20329"/>
                </a:cubicBezTo>
                <a:cubicBezTo>
                  <a:pt x="25199" y="27952"/>
                  <a:pt x="28800" y="35576"/>
                  <a:pt x="32399" y="40658"/>
                </a:cubicBezTo>
                <a:cubicBezTo>
                  <a:pt x="36000" y="43200"/>
                  <a:pt x="39600" y="43200"/>
                  <a:pt x="43200" y="40658"/>
                </a:cubicBez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ONLYOFFICE/9.1.0.167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3</cp:revision>
  <dcterms:created xsi:type="dcterms:W3CDTF">2026-06-04T16:05:30Z</dcterms:created>
  <dcterms:modified xsi:type="dcterms:W3CDTF">2026-06-04T17:03:42Z</dcterms:modified>
</cp:coreProperties>
</file>